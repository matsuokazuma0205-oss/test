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0" y="-1097280"/>
            <a:ext cx="4114800" cy="4114800"/>
          </a:xfrm>
          <a:prstGeom prst="ellipse">
            <a:avLst/>
          </a:prstGeom>
          <a:solidFill>
            <a:srgbClr val="005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4754880"/>
            <a:ext cx="3474720" cy="3474720"/>
          </a:xfrm>
          <a:prstGeom prst="ellipse">
            <a:avLst/>
          </a:prstGeom>
          <a:solidFill>
            <a:srgbClr val="005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188720"/>
            <a:ext cx="2011680" cy="384048"/>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受注管理</a:t>
            </a:r>
          </a:p>
        </p:txBody>
      </p:sp>
      <p:sp>
        <p:nvSpPr>
          <p:cNvPr id="6" name="Rectangle 5"/>
          <p:cNvSpPr/>
          <p:nvPr/>
        </p:nvSpPr>
        <p:spPr>
          <a:xfrm>
            <a:off x="4023360" y="1188720"/>
            <a:ext cx="2011680" cy="3840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売上管理</a:t>
            </a:r>
          </a:p>
        </p:txBody>
      </p:sp>
      <p:sp>
        <p:nvSpPr>
          <p:cNvPr id="7" name="Rectangle 6"/>
          <p:cNvSpPr/>
          <p:nvPr/>
        </p:nvSpPr>
        <p:spPr>
          <a:xfrm>
            <a:off x="6400800" y="1188720"/>
            <a:ext cx="2011680" cy="384048"/>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請求管理</a:t>
            </a:r>
          </a:p>
        </p:txBody>
      </p:sp>
      <p:sp>
        <p:nvSpPr>
          <p:cNvPr id="8" name="Rectangle 7"/>
          <p:cNvSpPr/>
          <p:nvPr/>
        </p:nvSpPr>
        <p:spPr>
          <a:xfrm>
            <a:off x="8778240" y="1188720"/>
            <a:ext cx="2011680" cy="38404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入金管理</a:t>
            </a:r>
          </a:p>
        </p:txBody>
      </p:sp>
      <p:sp>
        <p:nvSpPr>
          <p:cNvPr id="9" name="TextBox 8"/>
          <p:cNvSpPr txBox="1"/>
          <p:nvPr/>
        </p:nvSpPr>
        <p:spPr>
          <a:xfrm>
            <a:off x="1828800" y="1691640"/>
            <a:ext cx="8531352" cy="457200"/>
          </a:xfrm>
          <a:prstGeom prst="rect">
            <a:avLst/>
          </a:prstGeom>
          <a:noFill/>
        </p:spPr>
        <p:txBody>
          <a:bodyPr wrap="square">
            <a:spAutoFit/>
          </a:bodyPr>
          <a:lstStyle/>
          <a:p>
            <a:pPr algn="ctr"/>
            <a:r>
              <a:rPr sz="1800" b="0" i="0">
                <a:solidFill>
                  <a:srgbClr val="88BBFF"/>
                </a:solidFill>
              </a:rPr>
              <a:t>フーズジョイ</a:t>
            </a:r>
          </a:p>
        </p:txBody>
      </p:sp>
      <p:sp>
        <p:nvSpPr>
          <p:cNvPr id="10" name="TextBox 9"/>
          <p:cNvSpPr txBox="1"/>
          <p:nvPr/>
        </p:nvSpPr>
        <p:spPr>
          <a:xfrm>
            <a:off x="457200" y="2148840"/>
            <a:ext cx="11274552" cy="1005840"/>
          </a:xfrm>
          <a:prstGeom prst="rect">
            <a:avLst/>
          </a:prstGeom>
          <a:noFill/>
        </p:spPr>
        <p:txBody>
          <a:bodyPr wrap="square">
            <a:spAutoFit/>
          </a:bodyPr>
          <a:lstStyle/>
          <a:p>
            <a:pPr algn="ctr"/>
            <a:r>
              <a:rPr sz="5000" b="1" i="0">
                <a:solidFill>
                  <a:srgbClr val="FFFFFF"/>
                </a:solidFill>
              </a:rPr>
              <a:t>キントーン 業務フロー</a:t>
            </a:r>
          </a:p>
        </p:txBody>
      </p:sp>
      <p:sp>
        <p:nvSpPr>
          <p:cNvPr id="11" name="TextBox 10"/>
          <p:cNvSpPr txBox="1"/>
          <p:nvPr/>
        </p:nvSpPr>
        <p:spPr>
          <a:xfrm>
            <a:off x="457200" y="3090672"/>
            <a:ext cx="11274552" cy="731520"/>
          </a:xfrm>
          <a:prstGeom prst="rect">
            <a:avLst/>
          </a:prstGeom>
          <a:noFill/>
        </p:spPr>
        <p:txBody>
          <a:bodyPr wrap="square">
            <a:spAutoFit/>
          </a:bodyPr>
          <a:lstStyle/>
          <a:p>
            <a:pPr algn="ctr"/>
            <a:r>
              <a:rPr sz="3800" b="1" i="0">
                <a:solidFill>
                  <a:srgbClr val="FFFFFF"/>
                </a:solidFill>
              </a:rPr>
              <a:t>操作手順ガイド</a:t>
            </a:r>
          </a:p>
        </p:txBody>
      </p:sp>
      <p:sp>
        <p:nvSpPr>
          <p:cNvPr id="12" name="TextBox 11"/>
          <p:cNvSpPr txBox="1"/>
          <p:nvPr/>
        </p:nvSpPr>
        <p:spPr>
          <a:xfrm>
            <a:off x="457200" y="3931920"/>
            <a:ext cx="11274552" cy="457200"/>
          </a:xfrm>
          <a:prstGeom prst="rect">
            <a:avLst/>
          </a:prstGeom>
          <a:noFill/>
        </p:spPr>
        <p:txBody>
          <a:bodyPr wrap="square">
            <a:spAutoFit/>
          </a:bodyPr>
          <a:lstStyle/>
          <a:p>
            <a:pPr algn="ctr"/>
            <a:r>
              <a:rPr sz="1400" b="0" i="0">
                <a:solidFill>
                  <a:srgbClr val="AACCFF"/>
                </a:solidFill>
              </a:rPr>
              <a:t>受注管理（設定反映版）／ 売上管理（設定反映版）／ 請求管理（設定反映版）／ 入金管理</a:t>
            </a:r>
          </a:p>
        </p:txBody>
      </p:sp>
      <p:sp>
        <p:nvSpPr>
          <p:cNvPr id="13" name="TextBox 12"/>
          <p:cNvSpPr txBox="1"/>
          <p:nvPr/>
        </p:nvSpPr>
        <p:spPr>
          <a:xfrm>
            <a:off x="457200" y="4663440"/>
            <a:ext cx="11274552" cy="365760"/>
          </a:xfrm>
          <a:prstGeom prst="rect">
            <a:avLst/>
          </a:prstGeom>
          <a:noFill/>
        </p:spPr>
        <p:txBody>
          <a:bodyPr wrap="square">
            <a:spAutoFit/>
          </a:bodyPr>
          <a:lstStyle/>
          <a:p>
            <a:pPr algn="ctr"/>
            <a:r>
              <a:rPr sz="1300" b="0" i="0">
                <a:solidFill>
                  <a:srgbClr val="6688AA"/>
                </a:solidFill>
              </a:rPr>
              <a:t>2026年6月版　社内システム部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全体フロー</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業務フロー全体像</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受注から入金完了までの4つのアプリがどのように連携しているかを示します</a:t>
            </a:r>
          </a:p>
        </p:txBody>
      </p:sp>
      <p:sp>
        <p:nvSpPr>
          <p:cNvPr id="9" name="Rounded Rectangle 8"/>
          <p:cNvSpPr/>
          <p:nvPr/>
        </p:nvSpPr>
        <p:spPr>
          <a:xfrm>
            <a:off x="365760" y="1417320"/>
            <a:ext cx="2514600" cy="1920240"/>
          </a:xfrm>
          <a:prstGeom prst="round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①
受注管理</a:t>
            </a:r>
          </a:p>
        </p:txBody>
      </p:sp>
      <p:sp>
        <p:nvSpPr>
          <p:cNvPr id="10" name="Rectangle 9"/>
          <p:cNvSpPr/>
          <p:nvPr/>
        </p:nvSpPr>
        <p:spPr>
          <a:xfrm>
            <a:off x="365760" y="3429000"/>
            <a:ext cx="2514600" cy="10058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rPr>
              <a:t>顧客から注文を受け
受注レコードを作成</a:t>
            </a:r>
          </a:p>
        </p:txBody>
      </p:sp>
      <p:sp>
        <p:nvSpPr>
          <p:cNvPr id="11" name="Can 10"/>
          <p:cNvSpPr/>
          <p:nvPr/>
        </p:nvSpPr>
        <p:spPr>
          <a:xfrm>
            <a:off x="2944368" y="1965960"/>
            <a:ext cx="256032" cy="56692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64408" y="1417320"/>
            <a:ext cx="2514600" cy="1920240"/>
          </a:xfrm>
          <a:prstGeom prst="round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②
売上管理</a:t>
            </a:r>
          </a:p>
        </p:txBody>
      </p:sp>
      <p:sp>
        <p:nvSpPr>
          <p:cNvPr id="13" name="Rectangle 12"/>
          <p:cNvSpPr/>
          <p:nvPr/>
        </p:nvSpPr>
        <p:spPr>
          <a:xfrm>
            <a:off x="3264408" y="3429000"/>
            <a:ext cx="2514600" cy="10058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rPr>
              <a:t>受注確定後に売上を
計上・確認</a:t>
            </a:r>
          </a:p>
        </p:txBody>
      </p:sp>
      <p:sp>
        <p:nvSpPr>
          <p:cNvPr id="14" name="Can 13"/>
          <p:cNvSpPr/>
          <p:nvPr/>
        </p:nvSpPr>
        <p:spPr>
          <a:xfrm>
            <a:off x="5843016" y="1965960"/>
            <a:ext cx="256032" cy="56692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63056" y="1417320"/>
            <a:ext cx="2514600" cy="1920240"/>
          </a:xfrm>
          <a:prstGeom prst="round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③
請求管理</a:t>
            </a:r>
          </a:p>
        </p:txBody>
      </p:sp>
      <p:sp>
        <p:nvSpPr>
          <p:cNvPr id="16" name="Rectangle 15"/>
          <p:cNvSpPr/>
          <p:nvPr/>
        </p:nvSpPr>
        <p:spPr>
          <a:xfrm>
            <a:off x="6163056" y="3429000"/>
            <a:ext cx="2514600" cy="10058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rPr>
              <a:t>売上に基づいて
請求書を発行</a:t>
            </a:r>
          </a:p>
        </p:txBody>
      </p:sp>
      <p:sp>
        <p:nvSpPr>
          <p:cNvPr id="17" name="Can 16"/>
          <p:cNvSpPr/>
          <p:nvPr/>
        </p:nvSpPr>
        <p:spPr>
          <a:xfrm>
            <a:off x="8741664" y="1965960"/>
            <a:ext cx="256032" cy="56692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61704" y="1417320"/>
            <a:ext cx="2514600" cy="19202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④
入金管理</a:t>
            </a:r>
          </a:p>
        </p:txBody>
      </p:sp>
      <p:sp>
        <p:nvSpPr>
          <p:cNvPr id="19" name="Rectangle 18"/>
          <p:cNvSpPr/>
          <p:nvPr/>
        </p:nvSpPr>
        <p:spPr>
          <a:xfrm>
            <a:off x="9061704" y="3429000"/>
            <a:ext cx="2514600" cy="1005840"/>
          </a:xfrm>
          <a:prstGeom prst="rect">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1A1A2E"/>
                </a:solidFill>
              </a:rPr>
              <a:t>入金を確認・消込
完了処理</a:t>
            </a:r>
          </a:p>
        </p:txBody>
      </p:sp>
      <p:sp>
        <p:nvSpPr>
          <p:cNvPr id="20" name="Rectangle 19"/>
          <p:cNvSpPr/>
          <p:nvPr/>
        </p:nvSpPr>
        <p:spPr>
          <a:xfrm>
            <a:off x="365760" y="4572000"/>
            <a:ext cx="731520" cy="347472"/>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受注登録</a:t>
            </a:r>
          </a:p>
        </p:txBody>
      </p:sp>
      <p:sp>
        <p:nvSpPr>
          <p:cNvPr id="21" name="Rectangle 20"/>
          <p:cNvSpPr/>
          <p:nvPr/>
        </p:nvSpPr>
        <p:spPr>
          <a:xfrm>
            <a:off x="1170432" y="4572000"/>
            <a:ext cx="731520" cy="347472"/>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在庫確認</a:t>
            </a:r>
          </a:p>
        </p:txBody>
      </p:sp>
      <p:sp>
        <p:nvSpPr>
          <p:cNvPr id="22" name="Rectangle 21"/>
          <p:cNvSpPr/>
          <p:nvPr/>
        </p:nvSpPr>
        <p:spPr>
          <a:xfrm>
            <a:off x="1975104" y="4572000"/>
            <a:ext cx="731520" cy="347472"/>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受注確定</a:t>
            </a:r>
          </a:p>
        </p:txBody>
      </p:sp>
      <p:sp>
        <p:nvSpPr>
          <p:cNvPr id="23" name="Rectangle 22"/>
          <p:cNvSpPr/>
          <p:nvPr/>
        </p:nvSpPr>
        <p:spPr>
          <a:xfrm>
            <a:off x="3264408" y="4572000"/>
            <a:ext cx="731520" cy="34747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売上計上</a:t>
            </a:r>
          </a:p>
        </p:txBody>
      </p:sp>
      <p:sp>
        <p:nvSpPr>
          <p:cNvPr id="24" name="Rectangle 23"/>
          <p:cNvSpPr/>
          <p:nvPr/>
        </p:nvSpPr>
        <p:spPr>
          <a:xfrm>
            <a:off x="4069080" y="4572000"/>
            <a:ext cx="731520" cy="34747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数量・金額確認</a:t>
            </a:r>
          </a:p>
        </p:txBody>
      </p:sp>
      <p:sp>
        <p:nvSpPr>
          <p:cNvPr id="25" name="Rectangle 24"/>
          <p:cNvSpPr/>
          <p:nvPr/>
        </p:nvSpPr>
        <p:spPr>
          <a:xfrm>
            <a:off x="4873752" y="4572000"/>
            <a:ext cx="731520" cy="34747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売上確定</a:t>
            </a:r>
          </a:p>
        </p:txBody>
      </p:sp>
      <p:sp>
        <p:nvSpPr>
          <p:cNvPr id="26" name="Rectangle 25"/>
          <p:cNvSpPr/>
          <p:nvPr/>
        </p:nvSpPr>
        <p:spPr>
          <a:xfrm>
            <a:off x="6163056" y="4572000"/>
            <a:ext cx="731520" cy="347472"/>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請求書作成</a:t>
            </a:r>
          </a:p>
        </p:txBody>
      </p:sp>
      <p:sp>
        <p:nvSpPr>
          <p:cNvPr id="27" name="Rectangle 26"/>
          <p:cNvSpPr/>
          <p:nvPr/>
        </p:nvSpPr>
        <p:spPr>
          <a:xfrm>
            <a:off x="6967728" y="4572000"/>
            <a:ext cx="731520" cy="347472"/>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承認ルート</a:t>
            </a:r>
          </a:p>
        </p:txBody>
      </p:sp>
      <p:sp>
        <p:nvSpPr>
          <p:cNvPr id="28" name="Rectangle 27"/>
          <p:cNvSpPr/>
          <p:nvPr/>
        </p:nvSpPr>
        <p:spPr>
          <a:xfrm>
            <a:off x="7772400" y="4572000"/>
            <a:ext cx="731520" cy="347472"/>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請求書送付</a:t>
            </a:r>
          </a:p>
        </p:txBody>
      </p:sp>
      <p:sp>
        <p:nvSpPr>
          <p:cNvPr id="29" name="Rectangle 28"/>
          <p:cNvSpPr/>
          <p:nvPr/>
        </p:nvSpPr>
        <p:spPr>
          <a:xfrm>
            <a:off x="9061704" y="4572000"/>
            <a:ext cx="731520" cy="34747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入金確認</a:t>
            </a:r>
          </a:p>
        </p:txBody>
      </p:sp>
      <p:sp>
        <p:nvSpPr>
          <p:cNvPr id="30" name="Rectangle 29"/>
          <p:cNvSpPr/>
          <p:nvPr/>
        </p:nvSpPr>
        <p:spPr>
          <a:xfrm>
            <a:off x="9866376" y="4572000"/>
            <a:ext cx="731520" cy="34747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消込処理</a:t>
            </a:r>
          </a:p>
        </p:txBody>
      </p:sp>
      <p:sp>
        <p:nvSpPr>
          <p:cNvPr id="31" name="Rectangle 30"/>
          <p:cNvSpPr/>
          <p:nvPr/>
        </p:nvSpPr>
        <p:spPr>
          <a:xfrm>
            <a:off x="10671048" y="4572000"/>
            <a:ext cx="731520" cy="34747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FFFFFF"/>
                </a:solidFill>
              </a:rPr>
              <a:t>完了</a:t>
            </a:r>
          </a:p>
        </p:txBody>
      </p:sp>
      <p:sp>
        <p:nvSpPr>
          <p:cNvPr id="32" name="Rectangle 31"/>
          <p:cNvSpPr/>
          <p:nvPr/>
        </p:nvSpPr>
        <p:spPr>
          <a:xfrm>
            <a:off x="457200" y="5074920"/>
            <a:ext cx="11274552" cy="566928"/>
          </a:xfrm>
          <a:prstGeom prst="rect">
            <a:avLst/>
          </a:prstGeom>
          <a:solidFill>
            <a:srgbClr val="E8F4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120640"/>
            <a:ext cx="10972800" cy="237744"/>
          </a:xfrm>
          <a:prstGeom prst="rect">
            <a:avLst/>
          </a:prstGeom>
          <a:noFill/>
        </p:spPr>
        <p:txBody>
          <a:bodyPr wrap="square">
            <a:spAutoFit/>
          </a:bodyPr>
          <a:lstStyle/>
          <a:p>
            <a:pPr algn="l"/>
            <a:r>
              <a:rPr sz="1100" b="1" i="0">
                <a:solidFill>
                  <a:srgbClr val="0066CC"/>
                </a:solidFill>
              </a:rPr>
              <a:t>💡 連携ポイント</a:t>
            </a:r>
          </a:p>
        </p:txBody>
      </p:sp>
      <p:sp>
        <p:nvSpPr>
          <p:cNvPr id="34" name="TextBox 33"/>
          <p:cNvSpPr txBox="1"/>
          <p:nvPr/>
        </p:nvSpPr>
        <p:spPr>
          <a:xfrm>
            <a:off x="621792" y="5376672"/>
            <a:ext cx="10972800" cy="237744"/>
          </a:xfrm>
          <a:prstGeom prst="rect">
            <a:avLst/>
          </a:prstGeom>
          <a:noFill/>
        </p:spPr>
        <p:txBody>
          <a:bodyPr wrap="square">
            <a:spAutoFit/>
          </a:bodyPr>
          <a:lstStyle/>
          <a:p>
            <a:pPr algn="l"/>
            <a:r>
              <a:rPr sz="1100" b="0" i="0">
                <a:solidFill>
                  <a:srgbClr val="1A1A2E"/>
                </a:solidFill>
              </a:rPr>
              <a:t>受注確定 → 売上管理に自動連携 ／ 売上確定 → 請求管理に自動連携 ／ 請求送付 → 入金管理で消込</a:t>
            </a:r>
          </a:p>
        </p:txBody>
      </p:sp>
      <p:sp>
        <p:nvSpPr>
          <p:cNvPr id="35" name="Rectangle 34"/>
          <p:cNvSpPr/>
          <p:nvPr/>
        </p:nvSpPr>
        <p:spPr>
          <a:xfrm>
            <a:off x="457200" y="5742432"/>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833872"/>
            <a:ext cx="11064240" cy="320040"/>
          </a:xfrm>
          <a:prstGeom prst="rect">
            <a:avLst/>
          </a:prstGeom>
          <a:noFill/>
        </p:spPr>
        <p:txBody>
          <a:bodyPr wrap="square">
            <a:spAutoFit/>
          </a:bodyPr>
          <a:lstStyle/>
          <a:p>
            <a:pPr algn="l"/>
            <a:r>
              <a:rPr sz="1100" b="0" i="0">
                <a:solidFill>
                  <a:srgbClr val="554400"/>
                </a:solidFill>
              </a:rPr>
              <a:t>💡 ヒント：各アプリは独立して使用できますが、フロー通りに進めることで二重入力を防止できます。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0" y="4114800"/>
            <a:ext cx="2926080" cy="2286000"/>
          </a:xfrm>
          <a:prstGeom prst="rect">
            <a:avLst/>
          </a:prstGeom>
          <a:noFill/>
        </p:spPr>
        <p:txBody>
          <a:bodyPr wrap="square">
            <a:spAutoFit/>
          </a:bodyPr>
          <a:lstStyle/>
          <a:p>
            <a:pPr algn="r"/>
            <a:r>
              <a:rPr sz="11000" b="1" i="0">
                <a:solidFill>
                  <a:srgbClr val="38BC68"/>
                </a:solidFill>
              </a:rPr>
              <a:t>01</a:t>
            </a:r>
          </a:p>
        </p:txBody>
      </p:sp>
      <p:sp>
        <p:nvSpPr>
          <p:cNvPr id="4" name="TextBox 3"/>
          <p:cNvSpPr txBox="1"/>
          <p:nvPr/>
        </p:nvSpPr>
        <p:spPr>
          <a:xfrm>
            <a:off x="1097280" y="2194560"/>
            <a:ext cx="9601200" cy="1188720"/>
          </a:xfrm>
          <a:prstGeom prst="rect">
            <a:avLst/>
          </a:prstGeom>
          <a:noFill/>
        </p:spPr>
        <p:txBody>
          <a:bodyPr wrap="square">
            <a:spAutoFit/>
          </a:bodyPr>
          <a:lstStyle/>
          <a:p>
            <a:pPr algn="ctr"/>
            <a:r>
              <a:rPr sz="4600" b="1" i="0">
                <a:solidFill>
                  <a:srgbClr val="FFFFFF"/>
                </a:solidFill>
              </a:rPr>
              <a:t>受注管理（設定反映版）</a:t>
            </a:r>
          </a:p>
        </p:txBody>
      </p:sp>
      <p:sp>
        <p:nvSpPr>
          <p:cNvPr id="5" name="TextBox 4"/>
          <p:cNvSpPr txBox="1"/>
          <p:nvPr/>
        </p:nvSpPr>
        <p:spPr>
          <a:xfrm>
            <a:off x="1097280" y="3429000"/>
            <a:ext cx="9601200" cy="594360"/>
          </a:xfrm>
          <a:prstGeom prst="rect">
            <a:avLst/>
          </a:prstGeom>
          <a:noFill/>
        </p:spPr>
        <p:txBody>
          <a:bodyPr wrap="square">
            <a:spAutoFit/>
          </a:bodyPr>
          <a:lstStyle/>
          <a:p>
            <a:pPr algn="ctr"/>
            <a:r>
              <a:rPr sz="1800" b="0" i="0">
                <a:solidFill>
                  <a:srgbClr val="FFFFFF"/>
                </a:solidFill>
              </a:rPr>
              <a:t>顧客からの注文を受け付け・管理するアプリ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受注管理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受注管理アプリの概要</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顧客から届く注文を一元管理し、受注〜確定〜出荷指示までのフローを管理します</a:t>
            </a:r>
          </a:p>
        </p:txBody>
      </p:sp>
      <p:sp>
        <p:nvSpPr>
          <p:cNvPr id="9" name="Rectangle 8"/>
          <p:cNvSpPr/>
          <p:nvPr/>
        </p:nvSpPr>
        <p:spPr>
          <a:xfrm>
            <a:off x="457200" y="1417320"/>
            <a:ext cx="5394960" cy="228600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27048"/>
            <a:ext cx="5120640" cy="292608"/>
          </a:xfrm>
          <a:prstGeom prst="rect">
            <a:avLst/>
          </a:prstGeom>
          <a:noFill/>
        </p:spPr>
        <p:txBody>
          <a:bodyPr wrap="square">
            <a:spAutoFit/>
          </a:bodyPr>
          <a:lstStyle/>
          <a:p>
            <a:pPr algn="l"/>
            <a:r>
              <a:rPr sz="1300" b="1" i="0">
                <a:solidFill>
                  <a:srgbClr val="1A9E4A"/>
                </a:solidFill>
              </a:rPr>
              <a:t>📋 主なフィールド</a:t>
            </a:r>
          </a:p>
        </p:txBody>
      </p:sp>
      <p:sp>
        <p:nvSpPr>
          <p:cNvPr id="11" name="TextBox 10"/>
          <p:cNvSpPr txBox="1"/>
          <p:nvPr/>
        </p:nvSpPr>
        <p:spPr>
          <a:xfrm>
            <a:off x="640080" y="1892808"/>
            <a:ext cx="5029200" cy="274320"/>
          </a:xfrm>
          <a:prstGeom prst="rect">
            <a:avLst/>
          </a:prstGeom>
          <a:noFill/>
        </p:spPr>
        <p:txBody>
          <a:bodyPr wrap="square">
            <a:spAutoFit/>
          </a:bodyPr>
          <a:lstStyle/>
          <a:p>
            <a:pPr algn="l"/>
            <a:r>
              <a:rPr sz="1100" b="0" i="0">
                <a:solidFill>
                  <a:srgbClr val="1A1A2E"/>
                </a:solidFill>
              </a:rPr>
              <a:t>▸ 受注番号（自動採番）</a:t>
            </a:r>
          </a:p>
        </p:txBody>
      </p:sp>
      <p:sp>
        <p:nvSpPr>
          <p:cNvPr id="12" name="TextBox 11"/>
          <p:cNvSpPr txBox="1"/>
          <p:nvPr/>
        </p:nvSpPr>
        <p:spPr>
          <a:xfrm>
            <a:off x="640080" y="2167128"/>
            <a:ext cx="5029200" cy="274320"/>
          </a:xfrm>
          <a:prstGeom prst="rect">
            <a:avLst/>
          </a:prstGeom>
          <a:noFill/>
        </p:spPr>
        <p:txBody>
          <a:bodyPr wrap="square">
            <a:spAutoFit/>
          </a:bodyPr>
          <a:lstStyle/>
          <a:p>
            <a:pPr algn="l"/>
            <a:r>
              <a:rPr sz="1100" b="0" i="0">
                <a:solidFill>
                  <a:srgbClr val="1A1A2E"/>
                </a:solidFill>
              </a:rPr>
              <a:t>▸ 受注日・納品希望日</a:t>
            </a:r>
          </a:p>
        </p:txBody>
      </p:sp>
      <p:sp>
        <p:nvSpPr>
          <p:cNvPr id="13" name="TextBox 12"/>
          <p:cNvSpPr txBox="1"/>
          <p:nvPr/>
        </p:nvSpPr>
        <p:spPr>
          <a:xfrm>
            <a:off x="640080" y="2441448"/>
            <a:ext cx="5029200" cy="274320"/>
          </a:xfrm>
          <a:prstGeom prst="rect">
            <a:avLst/>
          </a:prstGeom>
          <a:noFill/>
        </p:spPr>
        <p:txBody>
          <a:bodyPr wrap="square">
            <a:spAutoFit/>
          </a:bodyPr>
          <a:lstStyle/>
          <a:p>
            <a:pPr algn="l"/>
            <a:r>
              <a:rPr sz="1100" b="0" i="0">
                <a:solidFill>
                  <a:srgbClr val="1A1A2E"/>
                </a:solidFill>
              </a:rPr>
              <a:t>▸ 得意先名（顧客マスタ連携）</a:t>
            </a:r>
          </a:p>
        </p:txBody>
      </p:sp>
      <p:sp>
        <p:nvSpPr>
          <p:cNvPr id="14" name="TextBox 13"/>
          <p:cNvSpPr txBox="1"/>
          <p:nvPr/>
        </p:nvSpPr>
        <p:spPr>
          <a:xfrm>
            <a:off x="640080" y="2715768"/>
            <a:ext cx="5029200" cy="274320"/>
          </a:xfrm>
          <a:prstGeom prst="rect">
            <a:avLst/>
          </a:prstGeom>
          <a:noFill/>
        </p:spPr>
        <p:txBody>
          <a:bodyPr wrap="square">
            <a:spAutoFit/>
          </a:bodyPr>
          <a:lstStyle/>
          <a:p>
            <a:pPr algn="l"/>
            <a:r>
              <a:rPr sz="1100" b="0" i="0">
                <a:solidFill>
                  <a:srgbClr val="1A1A2E"/>
                </a:solidFill>
              </a:rPr>
              <a:t>▸ 商品名・数量・単価・金額</a:t>
            </a:r>
          </a:p>
        </p:txBody>
      </p:sp>
      <p:sp>
        <p:nvSpPr>
          <p:cNvPr id="15" name="TextBox 14"/>
          <p:cNvSpPr txBox="1"/>
          <p:nvPr/>
        </p:nvSpPr>
        <p:spPr>
          <a:xfrm>
            <a:off x="640080" y="2990088"/>
            <a:ext cx="5029200" cy="274320"/>
          </a:xfrm>
          <a:prstGeom prst="rect">
            <a:avLst/>
          </a:prstGeom>
          <a:noFill/>
        </p:spPr>
        <p:txBody>
          <a:bodyPr wrap="square">
            <a:spAutoFit/>
          </a:bodyPr>
          <a:lstStyle/>
          <a:p>
            <a:pPr algn="l"/>
            <a:r>
              <a:rPr sz="1100" b="0" i="0">
                <a:solidFill>
                  <a:srgbClr val="1A1A2E"/>
                </a:solidFill>
              </a:rPr>
              <a:t>▸ ステータス（未確定/確定/出荷済/完了）</a:t>
            </a:r>
          </a:p>
        </p:txBody>
      </p:sp>
      <p:sp>
        <p:nvSpPr>
          <p:cNvPr id="16" name="TextBox 15"/>
          <p:cNvSpPr txBox="1"/>
          <p:nvPr/>
        </p:nvSpPr>
        <p:spPr>
          <a:xfrm>
            <a:off x="640080" y="3264408"/>
            <a:ext cx="5029200" cy="274320"/>
          </a:xfrm>
          <a:prstGeom prst="rect">
            <a:avLst/>
          </a:prstGeom>
          <a:noFill/>
        </p:spPr>
        <p:txBody>
          <a:bodyPr wrap="square">
            <a:spAutoFit/>
          </a:bodyPr>
          <a:lstStyle/>
          <a:p>
            <a:pPr algn="l"/>
            <a:r>
              <a:rPr sz="1100" b="0" i="0">
                <a:solidFill>
                  <a:srgbClr val="1A1A2E"/>
                </a:solidFill>
              </a:rPr>
              <a:t>▸ 担当者・備考</a:t>
            </a:r>
          </a:p>
        </p:txBody>
      </p:sp>
      <p:sp>
        <p:nvSpPr>
          <p:cNvPr id="17" name="Rectangle 16"/>
          <p:cNvSpPr/>
          <p:nvPr/>
        </p:nvSpPr>
        <p:spPr>
          <a:xfrm>
            <a:off x="6035040" y="1417320"/>
            <a:ext cx="5394960" cy="228600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527048"/>
            <a:ext cx="5120640" cy="292608"/>
          </a:xfrm>
          <a:prstGeom prst="rect">
            <a:avLst/>
          </a:prstGeom>
          <a:noFill/>
        </p:spPr>
        <p:txBody>
          <a:bodyPr wrap="square">
            <a:spAutoFit/>
          </a:bodyPr>
          <a:lstStyle/>
          <a:p>
            <a:pPr algn="l"/>
            <a:r>
              <a:rPr sz="1300" b="1" i="0">
                <a:solidFill>
                  <a:srgbClr val="1A9E4A"/>
                </a:solidFill>
              </a:rPr>
              <a:t>🔄 ステータスの流れ</a:t>
            </a:r>
          </a:p>
        </p:txBody>
      </p:sp>
      <p:sp>
        <p:nvSpPr>
          <p:cNvPr id="19" name="TextBox 18"/>
          <p:cNvSpPr txBox="1"/>
          <p:nvPr/>
        </p:nvSpPr>
        <p:spPr>
          <a:xfrm>
            <a:off x="6217920" y="1892808"/>
            <a:ext cx="5029200" cy="274320"/>
          </a:xfrm>
          <a:prstGeom prst="rect">
            <a:avLst/>
          </a:prstGeom>
          <a:noFill/>
        </p:spPr>
        <p:txBody>
          <a:bodyPr wrap="square">
            <a:spAutoFit/>
          </a:bodyPr>
          <a:lstStyle/>
          <a:p>
            <a:pPr algn="l"/>
            <a:r>
              <a:rPr sz="1100" b="0" i="0">
                <a:solidFill>
                  <a:srgbClr val="1A1A2E"/>
                </a:solidFill>
              </a:rPr>
              <a:t>▸ ① 未確定　→　受注登録直後</a:t>
            </a:r>
          </a:p>
        </p:txBody>
      </p:sp>
      <p:sp>
        <p:nvSpPr>
          <p:cNvPr id="20" name="TextBox 19"/>
          <p:cNvSpPr txBox="1"/>
          <p:nvPr/>
        </p:nvSpPr>
        <p:spPr>
          <a:xfrm>
            <a:off x="6217920" y="2167128"/>
            <a:ext cx="5029200" cy="274320"/>
          </a:xfrm>
          <a:prstGeom prst="rect">
            <a:avLst/>
          </a:prstGeom>
          <a:noFill/>
        </p:spPr>
        <p:txBody>
          <a:bodyPr wrap="square">
            <a:spAutoFit/>
          </a:bodyPr>
          <a:lstStyle/>
          <a:p>
            <a:pPr algn="l"/>
            <a:r>
              <a:rPr sz="1100" b="0" i="0">
                <a:solidFill>
                  <a:srgbClr val="1A1A2E"/>
                </a:solidFill>
              </a:rPr>
              <a:t>▸ ② 確定済　→　内容確認・承認後</a:t>
            </a:r>
          </a:p>
        </p:txBody>
      </p:sp>
      <p:sp>
        <p:nvSpPr>
          <p:cNvPr id="21" name="TextBox 20"/>
          <p:cNvSpPr txBox="1"/>
          <p:nvPr/>
        </p:nvSpPr>
        <p:spPr>
          <a:xfrm>
            <a:off x="6217920" y="2441448"/>
            <a:ext cx="5029200" cy="274320"/>
          </a:xfrm>
          <a:prstGeom prst="rect">
            <a:avLst/>
          </a:prstGeom>
          <a:noFill/>
        </p:spPr>
        <p:txBody>
          <a:bodyPr wrap="square">
            <a:spAutoFit/>
          </a:bodyPr>
          <a:lstStyle/>
          <a:p>
            <a:pPr algn="l"/>
            <a:r>
              <a:rPr sz="1100" b="0" i="0">
                <a:solidFill>
                  <a:srgbClr val="1A1A2E"/>
                </a:solidFill>
              </a:rPr>
              <a:t>▸ ③ 出荷指示済　→　倉庫への指示完了</a:t>
            </a:r>
          </a:p>
        </p:txBody>
      </p:sp>
      <p:sp>
        <p:nvSpPr>
          <p:cNvPr id="22" name="TextBox 21"/>
          <p:cNvSpPr txBox="1"/>
          <p:nvPr/>
        </p:nvSpPr>
        <p:spPr>
          <a:xfrm>
            <a:off x="6217920" y="2715768"/>
            <a:ext cx="5029200" cy="274320"/>
          </a:xfrm>
          <a:prstGeom prst="rect">
            <a:avLst/>
          </a:prstGeom>
          <a:noFill/>
        </p:spPr>
        <p:txBody>
          <a:bodyPr wrap="square">
            <a:spAutoFit/>
          </a:bodyPr>
          <a:lstStyle/>
          <a:p>
            <a:pPr algn="l"/>
            <a:r>
              <a:rPr sz="1100" b="0" i="0">
                <a:solidFill>
                  <a:srgbClr val="1A1A2E"/>
                </a:solidFill>
              </a:rPr>
              <a:t>▸ ④ 出荷済　→　商品発送完了</a:t>
            </a:r>
          </a:p>
        </p:txBody>
      </p:sp>
      <p:sp>
        <p:nvSpPr>
          <p:cNvPr id="23" name="TextBox 22"/>
          <p:cNvSpPr txBox="1"/>
          <p:nvPr/>
        </p:nvSpPr>
        <p:spPr>
          <a:xfrm>
            <a:off x="6217920" y="2990088"/>
            <a:ext cx="5029200" cy="274320"/>
          </a:xfrm>
          <a:prstGeom prst="rect">
            <a:avLst/>
          </a:prstGeom>
          <a:noFill/>
        </p:spPr>
        <p:txBody>
          <a:bodyPr wrap="square">
            <a:spAutoFit/>
          </a:bodyPr>
          <a:lstStyle/>
          <a:p>
            <a:pPr algn="l"/>
            <a:r>
              <a:rPr sz="1100" b="0" i="0">
                <a:solidFill>
                  <a:srgbClr val="1A1A2E"/>
                </a:solidFill>
              </a:rPr>
              <a:t>▸ ⑤ 完了　→　売上管理へ連携</a:t>
            </a:r>
          </a:p>
        </p:txBody>
      </p:sp>
      <p:sp>
        <p:nvSpPr>
          <p:cNvPr id="24" name="Rectangle 23"/>
          <p:cNvSpPr/>
          <p:nvPr/>
        </p:nvSpPr>
        <p:spPr>
          <a:xfrm>
            <a:off x="457200" y="3886200"/>
            <a:ext cx="1828800" cy="38404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未確定</a:t>
            </a:r>
          </a:p>
        </p:txBody>
      </p:sp>
      <p:sp>
        <p:nvSpPr>
          <p:cNvPr id="25" name="Can 24"/>
          <p:cNvSpPr/>
          <p:nvPr/>
        </p:nvSpPr>
        <p:spPr>
          <a:xfrm>
            <a:off x="2340864" y="3931920"/>
            <a:ext cx="274320" cy="29260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670048" y="3886200"/>
            <a:ext cx="1828800" cy="384048"/>
          </a:xfrm>
          <a:prstGeom prst="rect">
            <a:avLst/>
          </a:prstGeom>
          <a:solidFill>
            <a:srgbClr val="33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確定済</a:t>
            </a:r>
          </a:p>
        </p:txBody>
      </p:sp>
      <p:sp>
        <p:nvSpPr>
          <p:cNvPr id="27" name="Can 26"/>
          <p:cNvSpPr/>
          <p:nvPr/>
        </p:nvSpPr>
        <p:spPr>
          <a:xfrm>
            <a:off x="4553712" y="3931920"/>
            <a:ext cx="274320" cy="29260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82896" y="3886200"/>
            <a:ext cx="1828800" cy="38404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出荷指示済</a:t>
            </a:r>
          </a:p>
        </p:txBody>
      </p:sp>
      <p:sp>
        <p:nvSpPr>
          <p:cNvPr id="29" name="Can 28"/>
          <p:cNvSpPr/>
          <p:nvPr/>
        </p:nvSpPr>
        <p:spPr>
          <a:xfrm>
            <a:off x="6766560" y="3931920"/>
            <a:ext cx="274320" cy="29260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95744" y="3886200"/>
            <a:ext cx="1828800" cy="384048"/>
          </a:xfrm>
          <a:prstGeom prst="rect">
            <a:avLst/>
          </a:prstGeom>
          <a:solidFill>
            <a:srgbClr val="00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出荷済</a:t>
            </a:r>
          </a:p>
        </p:txBody>
      </p:sp>
      <p:sp>
        <p:nvSpPr>
          <p:cNvPr id="31" name="Can 30"/>
          <p:cNvSpPr/>
          <p:nvPr/>
        </p:nvSpPr>
        <p:spPr>
          <a:xfrm>
            <a:off x="8979408" y="3931920"/>
            <a:ext cx="274320" cy="292608"/>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308592" y="3886200"/>
            <a:ext cx="1828800" cy="384048"/>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完了</a:t>
            </a:r>
          </a:p>
        </p:txBody>
      </p:sp>
      <p:sp>
        <p:nvSpPr>
          <p:cNvPr id="33" name="Rectangle 32"/>
          <p:cNvSpPr/>
          <p:nvPr/>
        </p:nvSpPr>
        <p:spPr>
          <a:xfrm>
            <a:off x="457200" y="4434840"/>
            <a:ext cx="11274552" cy="566928"/>
          </a:xfrm>
          <a:prstGeom prst="rect">
            <a:avLst/>
          </a:prstGeom>
          <a:solidFill>
            <a:srgbClr val="E8F8ED"/>
          </a:solidFill>
          <a:ln w="25400">
            <a:solidFill>
              <a:srgbClr val="1A9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480560"/>
            <a:ext cx="10972800" cy="237744"/>
          </a:xfrm>
          <a:prstGeom prst="rect">
            <a:avLst/>
          </a:prstGeom>
          <a:noFill/>
        </p:spPr>
        <p:txBody>
          <a:bodyPr wrap="square">
            <a:spAutoFit/>
          </a:bodyPr>
          <a:lstStyle/>
          <a:p>
            <a:pPr algn="l"/>
            <a:r>
              <a:rPr sz="1100" b="1" i="0">
                <a:solidFill>
                  <a:srgbClr val="1A9E4A"/>
                </a:solidFill>
              </a:rPr>
              <a:t>💡 売上管理への連携</a:t>
            </a:r>
          </a:p>
        </p:txBody>
      </p:sp>
      <p:sp>
        <p:nvSpPr>
          <p:cNvPr id="35" name="TextBox 34"/>
          <p:cNvSpPr txBox="1"/>
          <p:nvPr/>
        </p:nvSpPr>
        <p:spPr>
          <a:xfrm>
            <a:off x="621792" y="4736592"/>
            <a:ext cx="10972800" cy="237744"/>
          </a:xfrm>
          <a:prstGeom prst="rect">
            <a:avLst/>
          </a:prstGeom>
          <a:noFill/>
        </p:spPr>
        <p:txBody>
          <a:bodyPr wrap="square">
            <a:spAutoFit/>
          </a:bodyPr>
          <a:lstStyle/>
          <a:p>
            <a:pPr algn="l"/>
            <a:r>
              <a:rPr sz="1100" b="0" i="0">
                <a:solidFill>
                  <a:srgbClr val="1A1A2E"/>
                </a:solidFill>
              </a:rPr>
              <a:t>ステータスを「完了」にすると、売上管理アプリに自動でレコードが作成されます</a:t>
            </a:r>
          </a:p>
        </p:txBody>
      </p:sp>
      <p:sp>
        <p:nvSpPr>
          <p:cNvPr id="36" name="Rectangle 35"/>
          <p:cNvSpPr/>
          <p:nvPr/>
        </p:nvSpPr>
        <p:spPr>
          <a:xfrm>
            <a:off x="457200" y="5138928"/>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5230368"/>
            <a:ext cx="11064240" cy="320040"/>
          </a:xfrm>
          <a:prstGeom prst="rect">
            <a:avLst/>
          </a:prstGeom>
          <a:noFill/>
        </p:spPr>
        <p:txBody>
          <a:bodyPr wrap="square">
            <a:spAutoFit/>
          </a:bodyPr>
          <a:lstStyle/>
          <a:p>
            <a:pPr algn="l"/>
            <a:r>
              <a:rPr sz="1100" b="0" i="0">
                <a:solidFill>
                  <a:srgbClr val="554400"/>
                </a:solidFill>
              </a:rPr>
              <a:t>💡 ヒント：受注番号は自動採番のため手入力不要です。重複防止のため手動変更はしないでください。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受注管理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新規受注の登録手順</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顧客から注文を受けたら速やかにキントーンに登録しましょう</a:t>
            </a:r>
          </a:p>
        </p:txBody>
      </p:sp>
      <p:sp>
        <p:nvSpPr>
          <p:cNvPr id="9" name="Rectangle 8"/>
          <p:cNvSpPr/>
          <p:nvPr/>
        </p:nvSpPr>
        <p:spPr>
          <a:xfrm>
            <a:off x="457200" y="141732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545336"/>
            <a:ext cx="493776" cy="493776"/>
          </a:xfrm>
          <a:prstGeom prst="ellipse">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11" name="TextBox 10"/>
          <p:cNvSpPr txBox="1"/>
          <p:nvPr/>
        </p:nvSpPr>
        <p:spPr>
          <a:xfrm>
            <a:off x="1261872" y="1481328"/>
            <a:ext cx="8686800" cy="310896"/>
          </a:xfrm>
          <a:prstGeom prst="rect">
            <a:avLst/>
          </a:prstGeom>
          <a:noFill/>
        </p:spPr>
        <p:txBody>
          <a:bodyPr wrap="square">
            <a:spAutoFit/>
          </a:bodyPr>
          <a:lstStyle/>
          <a:p>
            <a:pPr algn="l"/>
            <a:r>
              <a:rPr sz="1400" b="1" i="0">
                <a:solidFill>
                  <a:srgbClr val="1A1A2E"/>
                </a:solidFill>
              </a:rPr>
              <a:t>受注管理アプリを開く</a:t>
            </a:r>
          </a:p>
        </p:txBody>
      </p:sp>
      <p:sp>
        <p:nvSpPr>
          <p:cNvPr id="12" name="TextBox 11"/>
          <p:cNvSpPr txBox="1"/>
          <p:nvPr/>
        </p:nvSpPr>
        <p:spPr>
          <a:xfrm>
            <a:off x="1261872" y="1810512"/>
            <a:ext cx="10241280" cy="301752"/>
          </a:xfrm>
          <a:prstGeom prst="rect">
            <a:avLst/>
          </a:prstGeom>
          <a:noFill/>
        </p:spPr>
        <p:txBody>
          <a:bodyPr wrap="square">
            <a:spAutoFit/>
          </a:bodyPr>
          <a:lstStyle/>
          <a:p>
            <a:pPr algn="l"/>
            <a:r>
              <a:rPr sz="1100" b="0" i="0">
                <a:solidFill>
                  <a:srgbClr val="555566"/>
                </a:solidFill>
              </a:rPr>
              <a:t>上部メニュー「受注管理（設定反映版）」をクリック</a:t>
            </a:r>
          </a:p>
        </p:txBody>
      </p:sp>
      <p:sp>
        <p:nvSpPr>
          <p:cNvPr id="13" name="Rectangle 12"/>
          <p:cNvSpPr/>
          <p:nvPr/>
        </p:nvSpPr>
        <p:spPr>
          <a:xfrm>
            <a:off x="457200" y="228600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2414016"/>
            <a:ext cx="493776" cy="493776"/>
          </a:xfrm>
          <a:prstGeom prst="ellipse">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15" name="TextBox 14"/>
          <p:cNvSpPr txBox="1"/>
          <p:nvPr/>
        </p:nvSpPr>
        <p:spPr>
          <a:xfrm>
            <a:off x="1261872" y="2350008"/>
            <a:ext cx="8686800" cy="310896"/>
          </a:xfrm>
          <a:prstGeom prst="rect">
            <a:avLst/>
          </a:prstGeom>
          <a:noFill/>
        </p:spPr>
        <p:txBody>
          <a:bodyPr wrap="square">
            <a:spAutoFit/>
          </a:bodyPr>
          <a:lstStyle/>
          <a:p>
            <a:pPr algn="l"/>
            <a:r>
              <a:rPr sz="1400" b="1" i="0">
                <a:solidFill>
                  <a:srgbClr val="1A1A2E"/>
                </a:solidFill>
              </a:rPr>
              <a:t>「＋ 新しいレコードを追加する」をクリック</a:t>
            </a:r>
          </a:p>
        </p:txBody>
      </p:sp>
      <p:sp>
        <p:nvSpPr>
          <p:cNvPr id="16" name="TextBox 15"/>
          <p:cNvSpPr txBox="1"/>
          <p:nvPr/>
        </p:nvSpPr>
        <p:spPr>
          <a:xfrm>
            <a:off x="1261872" y="2679192"/>
            <a:ext cx="10241280" cy="301752"/>
          </a:xfrm>
          <a:prstGeom prst="rect">
            <a:avLst/>
          </a:prstGeom>
          <a:noFill/>
        </p:spPr>
        <p:txBody>
          <a:bodyPr wrap="square">
            <a:spAutoFit/>
          </a:bodyPr>
          <a:lstStyle/>
          <a:p>
            <a:pPr algn="l"/>
            <a:r>
              <a:rPr sz="1100" b="0" i="0">
                <a:solidFill>
                  <a:srgbClr val="555566"/>
                </a:solidFill>
              </a:rPr>
              <a:t>一覧画面右上のボタンを押して入力フォームを開く</a:t>
            </a:r>
          </a:p>
        </p:txBody>
      </p:sp>
      <p:sp>
        <p:nvSpPr>
          <p:cNvPr id="17" name="Rectangle 16"/>
          <p:cNvSpPr/>
          <p:nvPr/>
        </p:nvSpPr>
        <p:spPr>
          <a:xfrm>
            <a:off x="457200" y="315468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282696"/>
            <a:ext cx="493776" cy="493776"/>
          </a:xfrm>
          <a:prstGeom prst="ellipse">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19" name="TextBox 18"/>
          <p:cNvSpPr txBox="1"/>
          <p:nvPr/>
        </p:nvSpPr>
        <p:spPr>
          <a:xfrm>
            <a:off x="1261872" y="3218688"/>
            <a:ext cx="8686800" cy="310896"/>
          </a:xfrm>
          <a:prstGeom prst="rect">
            <a:avLst/>
          </a:prstGeom>
          <a:noFill/>
        </p:spPr>
        <p:txBody>
          <a:bodyPr wrap="square">
            <a:spAutoFit/>
          </a:bodyPr>
          <a:lstStyle/>
          <a:p>
            <a:pPr algn="l"/>
            <a:r>
              <a:rPr sz="1400" b="1" i="0">
                <a:solidFill>
                  <a:srgbClr val="1A1A2E"/>
                </a:solidFill>
              </a:rPr>
              <a:t>必須項目を入力する</a:t>
            </a:r>
          </a:p>
        </p:txBody>
      </p:sp>
      <p:sp>
        <p:nvSpPr>
          <p:cNvPr id="20" name="TextBox 19"/>
          <p:cNvSpPr txBox="1"/>
          <p:nvPr/>
        </p:nvSpPr>
        <p:spPr>
          <a:xfrm>
            <a:off x="1261872" y="3547872"/>
            <a:ext cx="10241280" cy="301752"/>
          </a:xfrm>
          <a:prstGeom prst="rect">
            <a:avLst/>
          </a:prstGeom>
          <a:noFill/>
        </p:spPr>
        <p:txBody>
          <a:bodyPr wrap="square">
            <a:spAutoFit/>
          </a:bodyPr>
          <a:lstStyle/>
          <a:p>
            <a:pPr algn="l"/>
            <a:r>
              <a:rPr sz="1100" b="0" i="0">
                <a:solidFill>
                  <a:srgbClr val="555566"/>
                </a:solidFill>
              </a:rPr>
              <a:t>受注日・得意先名・商品名・数量・単価を入力。納品希望日も忘れずに記入</a:t>
            </a:r>
          </a:p>
        </p:txBody>
      </p:sp>
      <p:sp>
        <p:nvSpPr>
          <p:cNvPr id="21" name="Rectangle 20"/>
          <p:cNvSpPr/>
          <p:nvPr/>
        </p:nvSpPr>
        <p:spPr>
          <a:xfrm>
            <a:off x="457200" y="402336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151376"/>
            <a:ext cx="493776" cy="493776"/>
          </a:xfrm>
          <a:prstGeom prst="ellipse">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4</a:t>
            </a:r>
          </a:p>
        </p:txBody>
      </p:sp>
      <p:sp>
        <p:nvSpPr>
          <p:cNvPr id="23" name="TextBox 22"/>
          <p:cNvSpPr txBox="1"/>
          <p:nvPr/>
        </p:nvSpPr>
        <p:spPr>
          <a:xfrm>
            <a:off x="1261872" y="4087368"/>
            <a:ext cx="8686800" cy="310896"/>
          </a:xfrm>
          <a:prstGeom prst="rect">
            <a:avLst/>
          </a:prstGeom>
          <a:noFill/>
        </p:spPr>
        <p:txBody>
          <a:bodyPr wrap="square">
            <a:spAutoFit/>
          </a:bodyPr>
          <a:lstStyle/>
          <a:p>
            <a:pPr algn="l"/>
            <a:r>
              <a:rPr sz="1400" b="1" i="0">
                <a:solidFill>
                  <a:srgbClr val="1A1A2E"/>
                </a:solidFill>
              </a:rPr>
              <a:t>「保存」をクリックしてステータスを「未確定」で登録</a:t>
            </a:r>
          </a:p>
        </p:txBody>
      </p:sp>
      <p:sp>
        <p:nvSpPr>
          <p:cNvPr id="24" name="TextBox 23"/>
          <p:cNvSpPr txBox="1"/>
          <p:nvPr/>
        </p:nvSpPr>
        <p:spPr>
          <a:xfrm>
            <a:off x="1261872" y="4416552"/>
            <a:ext cx="10241280" cy="301752"/>
          </a:xfrm>
          <a:prstGeom prst="rect">
            <a:avLst/>
          </a:prstGeom>
          <a:noFill/>
        </p:spPr>
        <p:txBody>
          <a:bodyPr wrap="square">
            <a:spAutoFit/>
          </a:bodyPr>
          <a:lstStyle/>
          <a:p>
            <a:pPr algn="l"/>
            <a:r>
              <a:rPr sz="1100" b="0" i="0">
                <a:solidFill>
                  <a:srgbClr val="555566"/>
                </a:solidFill>
              </a:rPr>
              <a:t>この時点では未確定状態。内容を上長に確認後、ステータスを「確定済」に変更する</a:t>
            </a:r>
          </a:p>
        </p:txBody>
      </p:sp>
      <p:sp>
        <p:nvSpPr>
          <p:cNvPr id="25" name="Rectangle 24"/>
          <p:cNvSpPr/>
          <p:nvPr/>
        </p:nvSpPr>
        <p:spPr>
          <a:xfrm>
            <a:off x="457200" y="489204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1792" y="5020056"/>
            <a:ext cx="493776" cy="493776"/>
          </a:xfrm>
          <a:prstGeom prst="ellipse">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5</a:t>
            </a:r>
          </a:p>
        </p:txBody>
      </p:sp>
      <p:sp>
        <p:nvSpPr>
          <p:cNvPr id="27" name="TextBox 26"/>
          <p:cNvSpPr txBox="1"/>
          <p:nvPr/>
        </p:nvSpPr>
        <p:spPr>
          <a:xfrm>
            <a:off x="1261872" y="4956048"/>
            <a:ext cx="8686800" cy="310896"/>
          </a:xfrm>
          <a:prstGeom prst="rect">
            <a:avLst/>
          </a:prstGeom>
          <a:noFill/>
        </p:spPr>
        <p:txBody>
          <a:bodyPr wrap="square">
            <a:spAutoFit/>
          </a:bodyPr>
          <a:lstStyle/>
          <a:p>
            <a:pPr algn="l"/>
            <a:r>
              <a:rPr sz="1400" b="1" i="0">
                <a:solidFill>
                  <a:srgbClr val="1A1A2E"/>
                </a:solidFill>
              </a:rPr>
              <a:t>受注確定後にステータスを「確定済」に変更</a:t>
            </a:r>
          </a:p>
        </p:txBody>
      </p:sp>
      <p:sp>
        <p:nvSpPr>
          <p:cNvPr id="28" name="TextBox 27"/>
          <p:cNvSpPr txBox="1"/>
          <p:nvPr/>
        </p:nvSpPr>
        <p:spPr>
          <a:xfrm>
            <a:off x="1261872" y="5285232"/>
            <a:ext cx="10241280" cy="301752"/>
          </a:xfrm>
          <a:prstGeom prst="rect">
            <a:avLst/>
          </a:prstGeom>
          <a:noFill/>
        </p:spPr>
        <p:txBody>
          <a:bodyPr wrap="square">
            <a:spAutoFit/>
          </a:bodyPr>
          <a:lstStyle/>
          <a:p>
            <a:pPr algn="l"/>
            <a:r>
              <a:rPr sz="1100" b="0" i="0">
                <a:solidFill>
                  <a:srgbClr val="555566"/>
                </a:solidFill>
              </a:rPr>
              <a:t>詳細画面の「編集」→ステータス変更→「保存」。担当者にコメントで@メンション通知を送る</a:t>
            </a:r>
          </a:p>
        </p:txBody>
      </p:sp>
      <p:sp>
        <p:nvSpPr>
          <p:cNvPr id="29" name="Rectangle 28"/>
          <p:cNvSpPr/>
          <p:nvPr/>
        </p:nvSpPr>
        <p:spPr>
          <a:xfrm>
            <a:off x="457200" y="5897880"/>
            <a:ext cx="11274552" cy="475488"/>
          </a:xfrm>
          <a:prstGeom prst="rect">
            <a:avLst/>
          </a:prstGeom>
          <a:solidFill>
            <a:srgbClr val="FFF0F0"/>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989320"/>
            <a:ext cx="11064240" cy="320040"/>
          </a:xfrm>
          <a:prstGeom prst="rect">
            <a:avLst/>
          </a:prstGeom>
          <a:noFill/>
        </p:spPr>
        <p:txBody>
          <a:bodyPr wrap="square">
            <a:spAutoFit/>
          </a:bodyPr>
          <a:lstStyle/>
          <a:p>
            <a:pPr algn="l"/>
            <a:r>
              <a:rPr sz="1100" b="0" i="0">
                <a:solidFill>
                  <a:srgbClr val="CC0000"/>
                </a:solidFill>
              </a:rPr>
              <a:t>⚠ 注意：ステータス「完了」にすると売上管理へ自動連携されます。出荷確認前に完了にしないでください。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受注管理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プロセス管理と承認フロー</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受注確定には承認ステップが設定されています。承認ルートを確認してください</a:t>
            </a:r>
          </a:p>
        </p:txBody>
      </p:sp>
      <p:sp>
        <p:nvSpPr>
          <p:cNvPr id="9" name="Rectangle 8"/>
          <p:cNvSpPr/>
          <p:nvPr/>
        </p:nvSpPr>
        <p:spPr>
          <a:xfrm>
            <a:off x="457200" y="1417320"/>
            <a:ext cx="11274552" cy="292608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7315200" cy="320040"/>
          </a:xfrm>
          <a:prstGeom prst="rect">
            <a:avLst/>
          </a:prstGeom>
          <a:noFill/>
        </p:spPr>
        <p:txBody>
          <a:bodyPr wrap="square">
            <a:spAutoFit/>
          </a:bodyPr>
          <a:lstStyle/>
          <a:p>
            <a:pPr algn="l"/>
            <a:r>
              <a:rPr sz="1300" b="1" i="0">
                <a:solidFill>
                  <a:srgbClr val="0066CC"/>
                </a:solidFill>
              </a:rPr>
              <a:t>承認フロー（受注確定プロセス）</a:t>
            </a:r>
          </a:p>
        </p:txBody>
      </p:sp>
      <p:sp>
        <p:nvSpPr>
          <p:cNvPr id="11" name="Rounded Rectangle 10"/>
          <p:cNvSpPr/>
          <p:nvPr/>
        </p:nvSpPr>
        <p:spPr>
          <a:xfrm>
            <a:off x="548640" y="1828800"/>
            <a:ext cx="1051560" cy="1005840"/>
          </a:xfrm>
          <a:prstGeom prst="round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担当者
（自分）</a:t>
            </a:r>
          </a:p>
        </p:txBody>
      </p:sp>
      <p:sp>
        <p:nvSpPr>
          <p:cNvPr id="12" name="TextBox 11"/>
          <p:cNvSpPr txBox="1"/>
          <p:nvPr/>
        </p:nvSpPr>
        <p:spPr>
          <a:xfrm>
            <a:off x="548640" y="2907792"/>
            <a:ext cx="1051560" cy="457200"/>
          </a:xfrm>
          <a:prstGeom prst="rect">
            <a:avLst/>
          </a:prstGeom>
          <a:noFill/>
        </p:spPr>
        <p:txBody>
          <a:bodyPr wrap="square">
            <a:spAutoFit/>
          </a:bodyPr>
          <a:lstStyle/>
          <a:p>
            <a:pPr algn="ctr"/>
            <a:r>
              <a:rPr sz="1000" b="0" i="0">
                <a:solidFill>
                  <a:srgbClr val="555566"/>
                </a:solidFill>
              </a:rPr>
              <a:t>受注登録
入力完了</a:t>
            </a:r>
          </a:p>
        </p:txBody>
      </p:sp>
      <p:sp>
        <p:nvSpPr>
          <p:cNvPr id="13" name="Can 12"/>
          <p:cNvSpPr/>
          <p:nvPr/>
        </p:nvSpPr>
        <p:spPr>
          <a:xfrm>
            <a:off x="1828800" y="2103120"/>
            <a:ext cx="274320" cy="347472"/>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17520" y="1828800"/>
            <a:ext cx="1051560" cy="1005840"/>
          </a:xfrm>
          <a:prstGeom prst="round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上長
確認者</a:t>
            </a:r>
          </a:p>
        </p:txBody>
      </p:sp>
      <p:sp>
        <p:nvSpPr>
          <p:cNvPr id="15" name="TextBox 14"/>
          <p:cNvSpPr txBox="1"/>
          <p:nvPr/>
        </p:nvSpPr>
        <p:spPr>
          <a:xfrm>
            <a:off x="3017520" y="2907792"/>
            <a:ext cx="1051560" cy="457200"/>
          </a:xfrm>
          <a:prstGeom prst="rect">
            <a:avLst/>
          </a:prstGeom>
          <a:noFill/>
        </p:spPr>
        <p:txBody>
          <a:bodyPr wrap="square">
            <a:spAutoFit/>
          </a:bodyPr>
          <a:lstStyle/>
          <a:p>
            <a:pPr algn="ctr"/>
            <a:r>
              <a:rPr sz="1000" b="0" i="0">
                <a:solidFill>
                  <a:srgbClr val="555566"/>
                </a:solidFill>
              </a:rPr>
              <a:t>内容確認
承認</a:t>
            </a:r>
          </a:p>
        </p:txBody>
      </p:sp>
      <p:sp>
        <p:nvSpPr>
          <p:cNvPr id="16" name="Can 15"/>
          <p:cNvSpPr/>
          <p:nvPr/>
        </p:nvSpPr>
        <p:spPr>
          <a:xfrm>
            <a:off x="4297680" y="2103120"/>
            <a:ext cx="274320" cy="347472"/>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0" y="1828800"/>
            <a:ext cx="1051560" cy="100584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システム
自動</a:t>
            </a:r>
          </a:p>
        </p:txBody>
      </p:sp>
      <p:sp>
        <p:nvSpPr>
          <p:cNvPr id="18" name="TextBox 17"/>
          <p:cNvSpPr txBox="1"/>
          <p:nvPr/>
        </p:nvSpPr>
        <p:spPr>
          <a:xfrm>
            <a:off x="5486400" y="2907792"/>
            <a:ext cx="1051560" cy="457200"/>
          </a:xfrm>
          <a:prstGeom prst="rect">
            <a:avLst/>
          </a:prstGeom>
          <a:noFill/>
        </p:spPr>
        <p:txBody>
          <a:bodyPr wrap="square">
            <a:spAutoFit/>
          </a:bodyPr>
          <a:lstStyle/>
          <a:p>
            <a:pPr algn="ctr"/>
            <a:r>
              <a:rPr sz="1000" b="0" i="0">
                <a:solidFill>
                  <a:srgbClr val="555566"/>
                </a:solidFill>
              </a:rPr>
              <a:t>「確定済」
に変更</a:t>
            </a:r>
          </a:p>
        </p:txBody>
      </p:sp>
      <p:sp>
        <p:nvSpPr>
          <p:cNvPr id="19" name="Can 18"/>
          <p:cNvSpPr/>
          <p:nvPr/>
        </p:nvSpPr>
        <p:spPr>
          <a:xfrm>
            <a:off x="6766560" y="2103120"/>
            <a:ext cx="274320" cy="347472"/>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955280" y="1828800"/>
            <a:ext cx="1051560" cy="10058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担当者</a:t>
            </a:r>
          </a:p>
        </p:txBody>
      </p:sp>
      <p:sp>
        <p:nvSpPr>
          <p:cNvPr id="21" name="TextBox 20"/>
          <p:cNvSpPr txBox="1"/>
          <p:nvPr/>
        </p:nvSpPr>
        <p:spPr>
          <a:xfrm>
            <a:off x="7955280" y="2907792"/>
            <a:ext cx="1051560" cy="457200"/>
          </a:xfrm>
          <a:prstGeom prst="rect">
            <a:avLst/>
          </a:prstGeom>
          <a:noFill/>
        </p:spPr>
        <p:txBody>
          <a:bodyPr wrap="square">
            <a:spAutoFit/>
          </a:bodyPr>
          <a:lstStyle/>
          <a:p>
            <a:pPr algn="ctr"/>
            <a:r>
              <a:rPr sz="1000" b="0" i="0">
                <a:solidFill>
                  <a:srgbClr val="555566"/>
                </a:solidFill>
              </a:rPr>
              <a:t>出荷指示
倉庫連絡</a:t>
            </a:r>
          </a:p>
        </p:txBody>
      </p:sp>
      <p:sp>
        <p:nvSpPr>
          <p:cNvPr id="22" name="Can 21"/>
          <p:cNvSpPr/>
          <p:nvPr/>
        </p:nvSpPr>
        <p:spPr>
          <a:xfrm>
            <a:off x="9235440" y="2103120"/>
            <a:ext cx="274320" cy="347472"/>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424160" y="1828800"/>
            <a:ext cx="1051560" cy="1005840"/>
          </a:xfrm>
          <a:prstGeom prst="round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担当者</a:t>
            </a:r>
          </a:p>
        </p:txBody>
      </p:sp>
      <p:sp>
        <p:nvSpPr>
          <p:cNvPr id="24" name="TextBox 23"/>
          <p:cNvSpPr txBox="1"/>
          <p:nvPr/>
        </p:nvSpPr>
        <p:spPr>
          <a:xfrm>
            <a:off x="10424160" y="2907792"/>
            <a:ext cx="1051560" cy="457200"/>
          </a:xfrm>
          <a:prstGeom prst="rect">
            <a:avLst/>
          </a:prstGeom>
          <a:noFill/>
        </p:spPr>
        <p:txBody>
          <a:bodyPr wrap="square">
            <a:spAutoFit/>
          </a:bodyPr>
          <a:lstStyle/>
          <a:p>
            <a:pPr algn="ctr"/>
            <a:r>
              <a:rPr sz="1000" b="0" i="0">
                <a:solidFill>
                  <a:srgbClr val="555566"/>
                </a:solidFill>
              </a:rPr>
              <a:t>「完了」
処理</a:t>
            </a:r>
          </a:p>
        </p:txBody>
      </p:sp>
      <p:sp>
        <p:nvSpPr>
          <p:cNvPr id="25" name="Rectangle 24"/>
          <p:cNvSpPr/>
          <p:nvPr/>
        </p:nvSpPr>
        <p:spPr>
          <a:xfrm>
            <a:off x="457200" y="3657600"/>
            <a:ext cx="5394960" cy="182880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767328"/>
            <a:ext cx="5120640" cy="292608"/>
          </a:xfrm>
          <a:prstGeom prst="rect">
            <a:avLst/>
          </a:prstGeom>
          <a:noFill/>
        </p:spPr>
        <p:txBody>
          <a:bodyPr wrap="square">
            <a:spAutoFit/>
          </a:bodyPr>
          <a:lstStyle/>
          <a:p>
            <a:pPr algn="l"/>
            <a:r>
              <a:rPr sz="1300" b="1" i="0">
                <a:solidFill>
                  <a:srgbClr val="1A9E4A"/>
                </a:solidFill>
              </a:rPr>
              <a:t>📋 受注一覧で確認すべき項目</a:t>
            </a:r>
          </a:p>
        </p:txBody>
      </p:sp>
      <p:sp>
        <p:nvSpPr>
          <p:cNvPr id="27" name="TextBox 26"/>
          <p:cNvSpPr txBox="1"/>
          <p:nvPr/>
        </p:nvSpPr>
        <p:spPr>
          <a:xfrm>
            <a:off x="640080" y="4133088"/>
            <a:ext cx="5029200" cy="274320"/>
          </a:xfrm>
          <a:prstGeom prst="rect">
            <a:avLst/>
          </a:prstGeom>
          <a:noFill/>
        </p:spPr>
        <p:txBody>
          <a:bodyPr wrap="square">
            <a:spAutoFit/>
          </a:bodyPr>
          <a:lstStyle/>
          <a:p>
            <a:pPr algn="l"/>
            <a:r>
              <a:rPr sz="1100" b="0" i="0">
                <a:solidFill>
                  <a:srgbClr val="1A1A2E"/>
                </a:solidFill>
              </a:rPr>
              <a:t>▸ 今日の未確定受注（早急に確認必要）</a:t>
            </a:r>
          </a:p>
        </p:txBody>
      </p:sp>
      <p:sp>
        <p:nvSpPr>
          <p:cNvPr id="28" name="TextBox 27"/>
          <p:cNvSpPr txBox="1"/>
          <p:nvPr/>
        </p:nvSpPr>
        <p:spPr>
          <a:xfrm>
            <a:off x="640080" y="4407408"/>
            <a:ext cx="5029200" cy="274320"/>
          </a:xfrm>
          <a:prstGeom prst="rect">
            <a:avLst/>
          </a:prstGeom>
          <a:noFill/>
        </p:spPr>
        <p:txBody>
          <a:bodyPr wrap="square">
            <a:spAutoFit/>
          </a:bodyPr>
          <a:lstStyle/>
          <a:p>
            <a:pPr algn="l"/>
            <a:r>
              <a:rPr sz="1100" b="0" i="0">
                <a:solidFill>
                  <a:srgbClr val="1A1A2E"/>
                </a:solidFill>
              </a:rPr>
              <a:t>▸ 今週の納品希望がある受注</a:t>
            </a:r>
          </a:p>
        </p:txBody>
      </p:sp>
      <p:sp>
        <p:nvSpPr>
          <p:cNvPr id="29" name="TextBox 28"/>
          <p:cNvSpPr txBox="1"/>
          <p:nvPr/>
        </p:nvSpPr>
        <p:spPr>
          <a:xfrm>
            <a:off x="640080" y="4681728"/>
            <a:ext cx="5029200" cy="274320"/>
          </a:xfrm>
          <a:prstGeom prst="rect">
            <a:avLst/>
          </a:prstGeom>
          <a:noFill/>
        </p:spPr>
        <p:txBody>
          <a:bodyPr wrap="square">
            <a:spAutoFit/>
          </a:bodyPr>
          <a:lstStyle/>
          <a:p>
            <a:pPr algn="l"/>
            <a:r>
              <a:rPr sz="1100" b="0" i="0">
                <a:solidFill>
                  <a:srgbClr val="1A1A2E"/>
                </a:solidFill>
              </a:rPr>
              <a:t>▸ 自分が担当の未完了受注</a:t>
            </a:r>
          </a:p>
        </p:txBody>
      </p:sp>
      <p:sp>
        <p:nvSpPr>
          <p:cNvPr id="30" name="Rectangle 29"/>
          <p:cNvSpPr/>
          <p:nvPr/>
        </p:nvSpPr>
        <p:spPr>
          <a:xfrm>
            <a:off x="6035040" y="3657600"/>
            <a:ext cx="5394960" cy="182880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3767328"/>
            <a:ext cx="5120640" cy="292608"/>
          </a:xfrm>
          <a:prstGeom prst="rect">
            <a:avLst/>
          </a:prstGeom>
          <a:noFill/>
        </p:spPr>
        <p:txBody>
          <a:bodyPr wrap="square">
            <a:spAutoFit/>
          </a:bodyPr>
          <a:lstStyle/>
          <a:p>
            <a:pPr algn="l"/>
            <a:r>
              <a:rPr sz="1300" b="1" i="0">
                <a:solidFill>
                  <a:srgbClr val="0066CC"/>
                </a:solidFill>
              </a:rPr>
              <a:t>🔍 よく使う絞り込み条件</a:t>
            </a:r>
          </a:p>
        </p:txBody>
      </p:sp>
      <p:sp>
        <p:nvSpPr>
          <p:cNvPr id="32" name="TextBox 31"/>
          <p:cNvSpPr txBox="1"/>
          <p:nvPr/>
        </p:nvSpPr>
        <p:spPr>
          <a:xfrm>
            <a:off x="6217920" y="4133088"/>
            <a:ext cx="5029200" cy="274320"/>
          </a:xfrm>
          <a:prstGeom prst="rect">
            <a:avLst/>
          </a:prstGeom>
          <a:noFill/>
        </p:spPr>
        <p:txBody>
          <a:bodyPr wrap="square">
            <a:spAutoFit/>
          </a:bodyPr>
          <a:lstStyle/>
          <a:p>
            <a:pPr algn="l"/>
            <a:r>
              <a:rPr sz="1100" b="0" i="0">
                <a:solidFill>
                  <a:srgbClr val="1A1A2E"/>
                </a:solidFill>
              </a:rPr>
              <a:t>▸ ステータス ＝ 未確定</a:t>
            </a:r>
          </a:p>
        </p:txBody>
      </p:sp>
      <p:sp>
        <p:nvSpPr>
          <p:cNvPr id="33" name="TextBox 32"/>
          <p:cNvSpPr txBox="1"/>
          <p:nvPr/>
        </p:nvSpPr>
        <p:spPr>
          <a:xfrm>
            <a:off x="6217920" y="4407408"/>
            <a:ext cx="5029200" cy="274320"/>
          </a:xfrm>
          <a:prstGeom prst="rect">
            <a:avLst/>
          </a:prstGeom>
          <a:noFill/>
        </p:spPr>
        <p:txBody>
          <a:bodyPr wrap="square">
            <a:spAutoFit/>
          </a:bodyPr>
          <a:lstStyle/>
          <a:p>
            <a:pPr algn="l"/>
            <a:r>
              <a:rPr sz="1100" b="0" i="0">
                <a:solidFill>
                  <a:srgbClr val="1A1A2E"/>
                </a:solidFill>
              </a:rPr>
              <a:t>▸ 納品希望日 ＝ 今週</a:t>
            </a:r>
          </a:p>
        </p:txBody>
      </p:sp>
      <p:sp>
        <p:nvSpPr>
          <p:cNvPr id="34" name="TextBox 33"/>
          <p:cNvSpPr txBox="1"/>
          <p:nvPr/>
        </p:nvSpPr>
        <p:spPr>
          <a:xfrm>
            <a:off x="6217920" y="4681728"/>
            <a:ext cx="5029200" cy="274320"/>
          </a:xfrm>
          <a:prstGeom prst="rect">
            <a:avLst/>
          </a:prstGeom>
          <a:noFill/>
        </p:spPr>
        <p:txBody>
          <a:bodyPr wrap="square">
            <a:spAutoFit/>
          </a:bodyPr>
          <a:lstStyle/>
          <a:p>
            <a:pPr algn="l"/>
            <a:r>
              <a:rPr sz="1100" b="0" i="0">
                <a:solidFill>
                  <a:srgbClr val="1A1A2E"/>
                </a:solidFill>
              </a:rPr>
              <a:t>▸ 担当者 ＝ ログインユーザー</a:t>
            </a:r>
          </a:p>
        </p:txBody>
      </p:sp>
      <p:sp>
        <p:nvSpPr>
          <p:cNvPr id="35" name="Rectangle 34"/>
          <p:cNvSpPr/>
          <p:nvPr/>
        </p:nvSpPr>
        <p:spPr>
          <a:xfrm>
            <a:off x="457200" y="5669280"/>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760720"/>
            <a:ext cx="11064240" cy="320040"/>
          </a:xfrm>
          <a:prstGeom prst="rect">
            <a:avLst/>
          </a:prstGeom>
          <a:noFill/>
        </p:spPr>
        <p:txBody>
          <a:bodyPr wrap="square">
            <a:spAutoFit/>
          </a:bodyPr>
          <a:lstStyle/>
          <a:p>
            <a:pPr algn="l"/>
            <a:r>
              <a:rPr sz="1100" b="0" i="0">
                <a:solidFill>
                  <a:srgbClr val="554400"/>
                </a:solidFill>
              </a:rPr>
              <a:t>💡 ヒント：承認が止まっている場合は上長にコメントで@メンションして確認を促しましょう。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0" y="4114800"/>
            <a:ext cx="2926080" cy="2286000"/>
          </a:xfrm>
          <a:prstGeom prst="rect">
            <a:avLst/>
          </a:prstGeom>
          <a:noFill/>
        </p:spPr>
        <p:txBody>
          <a:bodyPr wrap="square">
            <a:spAutoFit/>
          </a:bodyPr>
          <a:lstStyle/>
          <a:p>
            <a:pPr algn="r"/>
            <a:r>
              <a:rPr sz="11000" b="1" i="0">
                <a:solidFill>
                  <a:srgbClr val="FF891E"/>
                </a:solidFill>
              </a:rPr>
              <a:t>02</a:t>
            </a:r>
          </a:p>
        </p:txBody>
      </p:sp>
      <p:sp>
        <p:nvSpPr>
          <p:cNvPr id="4" name="TextBox 3"/>
          <p:cNvSpPr txBox="1"/>
          <p:nvPr/>
        </p:nvSpPr>
        <p:spPr>
          <a:xfrm>
            <a:off x="1097280" y="2194560"/>
            <a:ext cx="9601200" cy="1188720"/>
          </a:xfrm>
          <a:prstGeom prst="rect">
            <a:avLst/>
          </a:prstGeom>
          <a:noFill/>
        </p:spPr>
        <p:txBody>
          <a:bodyPr wrap="square">
            <a:spAutoFit/>
          </a:bodyPr>
          <a:lstStyle/>
          <a:p>
            <a:pPr algn="ctr"/>
            <a:r>
              <a:rPr sz="4600" b="1" i="0">
                <a:solidFill>
                  <a:srgbClr val="FFFFFF"/>
                </a:solidFill>
              </a:rPr>
              <a:t>売上管理（設定反映版）</a:t>
            </a:r>
          </a:p>
        </p:txBody>
      </p:sp>
      <p:sp>
        <p:nvSpPr>
          <p:cNvPr id="5" name="TextBox 4"/>
          <p:cNvSpPr txBox="1"/>
          <p:nvPr/>
        </p:nvSpPr>
        <p:spPr>
          <a:xfrm>
            <a:off x="1097280" y="3429000"/>
            <a:ext cx="9601200" cy="594360"/>
          </a:xfrm>
          <a:prstGeom prst="rect">
            <a:avLst/>
          </a:prstGeom>
          <a:noFill/>
        </p:spPr>
        <p:txBody>
          <a:bodyPr wrap="square">
            <a:spAutoFit/>
          </a:bodyPr>
          <a:lstStyle/>
          <a:p>
            <a:pPr algn="ctr"/>
            <a:r>
              <a:rPr sz="1800" b="0" i="0">
                <a:solidFill>
                  <a:srgbClr val="FFFFFF"/>
                </a:solidFill>
              </a:rPr>
              <a:t>受注確定後に売上を計上・管理するアプリ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売上管理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売上管理アプリの概要</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受注管理の「完了」と連動して売上レコードが自動作成されます</a:t>
            </a:r>
          </a:p>
        </p:txBody>
      </p:sp>
      <p:sp>
        <p:nvSpPr>
          <p:cNvPr id="9" name="Rectangle 8"/>
          <p:cNvSpPr/>
          <p:nvPr/>
        </p:nvSpPr>
        <p:spPr>
          <a:xfrm>
            <a:off x="457200" y="1417320"/>
            <a:ext cx="539496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27048"/>
            <a:ext cx="5120640" cy="292608"/>
          </a:xfrm>
          <a:prstGeom prst="rect">
            <a:avLst/>
          </a:prstGeom>
          <a:noFill/>
        </p:spPr>
        <p:txBody>
          <a:bodyPr wrap="square">
            <a:spAutoFit/>
          </a:bodyPr>
          <a:lstStyle/>
          <a:p>
            <a:pPr algn="l"/>
            <a:r>
              <a:rPr sz="1300" b="1" i="0">
                <a:solidFill>
                  <a:srgbClr val="FF6B00"/>
                </a:solidFill>
              </a:rPr>
              <a:t>📊 主なフィールド</a:t>
            </a:r>
          </a:p>
        </p:txBody>
      </p:sp>
      <p:sp>
        <p:nvSpPr>
          <p:cNvPr id="11" name="TextBox 10"/>
          <p:cNvSpPr txBox="1"/>
          <p:nvPr/>
        </p:nvSpPr>
        <p:spPr>
          <a:xfrm>
            <a:off x="640080" y="1892808"/>
            <a:ext cx="5029200" cy="274320"/>
          </a:xfrm>
          <a:prstGeom prst="rect">
            <a:avLst/>
          </a:prstGeom>
          <a:noFill/>
        </p:spPr>
        <p:txBody>
          <a:bodyPr wrap="square">
            <a:spAutoFit/>
          </a:bodyPr>
          <a:lstStyle/>
          <a:p>
            <a:pPr algn="l"/>
            <a:r>
              <a:rPr sz="1100" b="0" i="0">
                <a:solidFill>
                  <a:srgbClr val="1A1A2E"/>
                </a:solidFill>
              </a:rPr>
              <a:t>▸ 売上番号（自動採番）</a:t>
            </a:r>
          </a:p>
        </p:txBody>
      </p:sp>
      <p:sp>
        <p:nvSpPr>
          <p:cNvPr id="12" name="TextBox 11"/>
          <p:cNvSpPr txBox="1"/>
          <p:nvPr/>
        </p:nvSpPr>
        <p:spPr>
          <a:xfrm>
            <a:off x="640080" y="2167128"/>
            <a:ext cx="5029200" cy="274320"/>
          </a:xfrm>
          <a:prstGeom prst="rect">
            <a:avLst/>
          </a:prstGeom>
          <a:noFill/>
        </p:spPr>
        <p:txBody>
          <a:bodyPr wrap="square">
            <a:spAutoFit/>
          </a:bodyPr>
          <a:lstStyle/>
          <a:p>
            <a:pPr algn="l"/>
            <a:r>
              <a:rPr sz="1100" b="0" i="0">
                <a:solidFill>
                  <a:srgbClr val="1A1A2E"/>
                </a:solidFill>
              </a:rPr>
              <a:t>▸ 連携受注番号（受注管理と紐づき）</a:t>
            </a:r>
          </a:p>
        </p:txBody>
      </p:sp>
      <p:sp>
        <p:nvSpPr>
          <p:cNvPr id="13" name="TextBox 12"/>
          <p:cNvSpPr txBox="1"/>
          <p:nvPr/>
        </p:nvSpPr>
        <p:spPr>
          <a:xfrm>
            <a:off x="640080" y="2441448"/>
            <a:ext cx="5029200" cy="274320"/>
          </a:xfrm>
          <a:prstGeom prst="rect">
            <a:avLst/>
          </a:prstGeom>
          <a:noFill/>
        </p:spPr>
        <p:txBody>
          <a:bodyPr wrap="square">
            <a:spAutoFit/>
          </a:bodyPr>
          <a:lstStyle/>
          <a:p>
            <a:pPr algn="l"/>
            <a:r>
              <a:rPr sz="1100" b="0" i="0">
                <a:solidFill>
                  <a:srgbClr val="1A1A2E"/>
                </a:solidFill>
              </a:rPr>
              <a:t>▸ 売上日・得意先名</a:t>
            </a:r>
          </a:p>
        </p:txBody>
      </p:sp>
      <p:sp>
        <p:nvSpPr>
          <p:cNvPr id="14" name="TextBox 13"/>
          <p:cNvSpPr txBox="1"/>
          <p:nvPr/>
        </p:nvSpPr>
        <p:spPr>
          <a:xfrm>
            <a:off x="640080" y="2715768"/>
            <a:ext cx="5029200" cy="274320"/>
          </a:xfrm>
          <a:prstGeom prst="rect">
            <a:avLst/>
          </a:prstGeom>
          <a:noFill/>
        </p:spPr>
        <p:txBody>
          <a:bodyPr wrap="square">
            <a:spAutoFit/>
          </a:bodyPr>
          <a:lstStyle/>
          <a:p>
            <a:pPr algn="l"/>
            <a:r>
              <a:rPr sz="1100" b="0" i="0">
                <a:solidFill>
                  <a:srgbClr val="1A1A2E"/>
                </a:solidFill>
              </a:rPr>
              <a:t>▸ 商品名・数量・売上金額・消費税</a:t>
            </a:r>
          </a:p>
        </p:txBody>
      </p:sp>
      <p:sp>
        <p:nvSpPr>
          <p:cNvPr id="15" name="TextBox 14"/>
          <p:cNvSpPr txBox="1"/>
          <p:nvPr/>
        </p:nvSpPr>
        <p:spPr>
          <a:xfrm>
            <a:off x="640080" y="2990088"/>
            <a:ext cx="5029200" cy="274320"/>
          </a:xfrm>
          <a:prstGeom prst="rect">
            <a:avLst/>
          </a:prstGeom>
          <a:noFill/>
        </p:spPr>
        <p:txBody>
          <a:bodyPr wrap="square">
            <a:spAutoFit/>
          </a:bodyPr>
          <a:lstStyle/>
          <a:p>
            <a:pPr algn="l"/>
            <a:r>
              <a:rPr sz="1100" b="0" i="0">
                <a:solidFill>
                  <a:srgbClr val="1A1A2E"/>
                </a:solidFill>
              </a:rPr>
              <a:t>▸ ステータス（計上待ち/計上済/請求済）</a:t>
            </a:r>
          </a:p>
        </p:txBody>
      </p:sp>
      <p:sp>
        <p:nvSpPr>
          <p:cNvPr id="16" name="TextBox 15"/>
          <p:cNvSpPr txBox="1"/>
          <p:nvPr/>
        </p:nvSpPr>
        <p:spPr>
          <a:xfrm>
            <a:off x="640080" y="3264408"/>
            <a:ext cx="5029200" cy="274320"/>
          </a:xfrm>
          <a:prstGeom prst="rect">
            <a:avLst/>
          </a:prstGeom>
          <a:noFill/>
        </p:spPr>
        <p:txBody>
          <a:bodyPr wrap="square">
            <a:spAutoFit/>
          </a:bodyPr>
          <a:lstStyle/>
          <a:p>
            <a:pPr algn="l"/>
            <a:r>
              <a:rPr sz="1100" b="0" i="0">
                <a:solidFill>
                  <a:srgbClr val="1A1A2E"/>
                </a:solidFill>
              </a:rPr>
              <a:t>▸ 担当者・摘要</a:t>
            </a:r>
          </a:p>
        </p:txBody>
      </p:sp>
      <p:sp>
        <p:nvSpPr>
          <p:cNvPr id="17" name="Rectangle 16"/>
          <p:cNvSpPr/>
          <p:nvPr/>
        </p:nvSpPr>
        <p:spPr>
          <a:xfrm>
            <a:off x="6035040" y="1417320"/>
            <a:ext cx="539496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527048"/>
            <a:ext cx="5120640" cy="292608"/>
          </a:xfrm>
          <a:prstGeom prst="rect">
            <a:avLst/>
          </a:prstGeom>
          <a:noFill/>
        </p:spPr>
        <p:txBody>
          <a:bodyPr wrap="square">
            <a:spAutoFit/>
          </a:bodyPr>
          <a:lstStyle/>
          <a:p>
            <a:pPr algn="l"/>
            <a:r>
              <a:rPr sz="1300" b="1" i="0">
                <a:solidFill>
                  <a:srgbClr val="FF6B00"/>
                </a:solidFill>
              </a:rPr>
              <a:t>🔄 ステータスの流れ</a:t>
            </a:r>
          </a:p>
        </p:txBody>
      </p:sp>
      <p:sp>
        <p:nvSpPr>
          <p:cNvPr id="19" name="TextBox 18"/>
          <p:cNvSpPr txBox="1"/>
          <p:nvPr/>
        </p:nvSpPr>
        <p:spPr>
          <a:xfrm>
            <a:off x="6217920" y="1892808"/>
            <a:ext cx="5029200" cy="274320"/>
          </a:xfrm>
          <a:prstGeom prst="rect">
            <a:avLst/>
          </a:prstGeom>
          <a:noFill/>
        </p:spPr>
        <p:txBody>
          <a:bodyPr wrap="square">
            <a:spAutoFit/>
          </a:bodyPr>
          <a:lstStyle/>
          <a:p>
            <a:pPr algn="l"/>
            <a:r>
              <a:rPr sz="1100" b="0" i="0">
                <a:solidFill>
                  <a:srgbClr val="1A1A2E"/>
                </a:solidFill>
              </a:rPr>
              <a:t>▸ ① 計上待ち　→　受注管理から自動生成直後</a:t>
            </a:r>
          </a:p>
        </p:txBody>
      </p:sp>
      <p:sp>
        <p:nvSpPr>
          <p:cNvPr id="20" name="TextBox 19"/>
          <p:cNvSpPr txBox="1"/>
          <p:nvPr/>
        </p:nvSpPr>
        <p:spPr>
          <a:xfrm>
            <a:off x="6217920" y="2167128"/>
            <a:ext cx="5029200" cy="274320"/>
          </a:xfrm>
          <a:prstGeom prst="rect">
            <a:avLst/>
          </a:prstGeom>
          <a:noFill/>
        </p:spPr>
        <p:txBody>
          <a:bodyPr wrap="square">
            <a:spAutoFit/>
          </a:bodyPr>
          <a:lstStyle/>
          <a:p>
            <a:pPr algn="l"/>
            <a:r>
              <a:rPr sz="1100" b="0" i="0">
                <a:solidFill>
                  <a:srgbClr val="1A1A2E"/>
                </a:solidFill>
              </a:rPr>
              <a:t>▸ ② 計上済　→　売上金額確認・確定後</a:t>
            </a:r>
          </a:p>
        </p:txBody>
      </p:sp>
      <p:sp>
        <p:nvSpPr>
          <p:cNvPr id="21" name="TextBox 20"/>
          <p:cNvSpPr txBox="1"/>
          <p:nvPr/>
        </p:nvSpPr>
        <p:spPr>
          <a:xfrm>
            <a:off x="6217920" y="2441448"/>
            <a:ext cx="5029200" cy="274320"/>
          </a:xfrm>
          <a:prstGeom prst="rect">
            <a:avLst/>
          </a:prstGeom>
          <a:noFill/>
        </p:spPr>
        <p:txBody>
          <a:bodyPr wrap="square">
            <a:spAutoFit/>
          </a:bodyPr>
          <a:lstStyle/>
          <a:p>
            <a:pPr algn="l"/>
            <a:r>
              <a:rPr sz="1100" b="0" i="0">
                <a:solidFill>
                  <a:srgbClr val="1A1A2E"/>
                </a:solidFill>
              </a:rPr>
              <a:t>▸ ③ 請求対象　→　請求管理へ連携済み</a:t>
            </a:r>
          </a:p>
        </p:txBody>
      </p:sp>
      <p:sp>
        <p:nvSpPr>
          <p:cNvPr id="22" name="TextBox 21"/>
          <p:cNvSpPr txBox="1"/>
          <p:nvPr/>
        </p:nvSpPr>
        <p:spPr>
          <a:xfrm>
            <a:off x="6217920" y="2715768"/>
            <a:ext cx="5029200" cy="274320"/>
          </a:xfrm>
          <a:prstGeom prst="rect">
            <a:avLst/>
          </a:prstGeom>
          <a:noFill/>
        </p:spPr>
        <p:txBody>
          <a:bodyPr wrap="square">
            <a:spAutoFit/>
          </a:bodyPr>
          <a:lstStyle/>
          <a:p>
            <a:pPr algn="l"/>
            <a:r>
              <a:rPr sz="1100" b="0" i="0">
                <a:solidFill>
                  <a:srgbClr val="1A1A2E"/>
                </a:solidFill>
              </a:rPr>
              <a:t>▸ ④ 請求済　→　請求書発行完了</a:t>
            </a:r>
          </a:p>
        </p:txBody>
      </p:sp>
      <p:sp>
        <p:nvSpPr>
          <p:cNvPr id="23" name="Rectangle 22"/>
          <p:cNvSpPr/>
          <p:nvPr/>
        </p:nvSpPr>
        <p:spPr>
          <a:xfrm>
            <a:off x="457200" y="3977639"/>
            <a:ext cx="2377440" cy="3840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計上待ち</a:t>
            </a:r>
          </a:p>
        </p:txBody>
      </p:sp>
      <p:sp>
        <p:nvSpPr>
          <p:cNvPr id="24" name="Can 23"/>
          <p:cNvSpPr/>
          <p:nvPr/>
        </p:nvSpPr>
        <p:spPr>
          <a:xfrm>
            <a:off x="2880360" y="4005072"/>
            <a:ext cx="338328"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73552" y="3977639"/>
            <a:ext cx="2377440" cy="3840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計上済</a:t>
            </a:r>
          </a:p>
        </p:txBody>
      </p:sp>
      <p:sp>
        <p:nvSpPr>
          <p:cNvPr id="26" name="Can 25"/>
          <p:cNvSpPr/>
          <p:nvPr/>
        </p:nvSpPr>
        <p:spPr>
          <a:xfrm>
            <a:off x="5696712" y="4005072"/>
            <a:ext cx="338328"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9904" y="3977639"/>
            <a:ext cx="2377440" cy="384048"/>
          </a:xfrm>
          <a:prstGeom prst="rect">
            <a:avLst/>
          </a:prstGeom>
          <a:solidFill>
            <a:srgbClr val="FF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請求対象</a:t>
            </a:r>
          </a:p>
        </p:txBody>
      </p:sp>
      <p:sp>
        <p:nvSpPr>
          <p:cNvPr id="28" name="Can 27"/>
          <p:cNvSpPr/>
          <p:nvPr/>
        </p:nvSpPr>
        <p:spPr>
          <a:xfrm>
            <a:off x="8513064" y="4005072"/>
            <a:ext cx="338328"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06256" y="3977639"/>
            <a:ext cx="2377440" cy="384048"/>
          </a:xfrm>
          <a:prstGeom prst="rect">
            <a:avLst/>
          </a:prstGeom>
          <a:solidFill>
            <a:srgbClr val="33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請求済</a:t>
            </a:r>
          </a:p>
        </p:txBody>
      </p:sp>
      <p:sp>
        <p:nvSpPr>
          <p:cNvPr id="30" name="Rectangle 29"/>
          <p:cNvSpPr/>
          <p:nvPr/>
        </p:nvSpPr>
        <p:spPr>
          <a:xfrm>
            <a:off x="457200" y="4526280"/>
            <a:ext cx="11274552" cy="566928"/>
          </a:xfrm>
          <a:prstGeom prst="rect">
            <a:avLst/>
          </a:prstGeom>
          <a:solidFill>
            <a:srgbClr val="FFF8E1"/>
          </a:solidFill>
          <a:ln w="2540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4572000"/>
            <a:ext cx="10972800" cy="237744"/>
          </a:xfrm>
          <a:prstGeom prst="rect">
            <a:avLst/>
          </a:prstGeom>
          <a:noFill/>
        </p:spPr>
        <p:txBody>
          <a:bodyPr wrap="square">
            <a:spAutoFit/>
          </a:bodyPr>
          <a:lstStyle/>
          <a:p>
            <a:pPr algn="l"/>
            <a:r>
              <a:rPr sz="1100" b="1" i="0">
                <a:solidFill>
                  <a:srgbClr val="FF6B00"/>
                </a:solidFill>
              </a:rPr>
              <a:t>💡 受注管理からの自動連携</a:t>
            </a:r>
          </a:p>
        </p:txBody>
      </p:sp>
      <p:sp>
        <p:nvSpPr>
          <p:cNvPr id="32" name="TextBox 31"/>
          <p:cNvSpPr txBox="1"/>
          <p:nvPr/>
        </p:nvSpPr>
        <p:spPr>
          <a:xfrm>
            <a:off x="621792" y="4828032"/>
            <a:ext cx="10972800" cy="237744"/>
          </a:xfrm>
          <a:prstGeom prst="rect">
            <a:avLst/>
          </a:prstGeom>
          <a:noFill/>
        </p:spPr>
        <p:txBody>
          <a:bodyPr wrap="square">
            <a:spAutoFit/>
          </a:bodyPr>
          <a:lstStyle/>
          <a:p>
            <a:pPr algn="l"/>
            <a:r>
              <a:rPr sz="1100" b="0" i="0">
                <a:solidFill>
                  <a:srgbClr val="1A1A2E"/>
                </a:solidFill>
              </a:rPr>
              <a:t>受注管理でステータスを「完了」にすると、売上管理に自動でレコードが作成されます（手入力不要）</a:t>
            </a:r>
          </a:p>
        </p:txBody>
      </p:sp>
      <p:sp>
        <p:nvSpPr>
          <p:cNvPr id="33" name="Rectangle 32"/>
          <p:cNvSpPr/>
          <p:nvPr/>
        </p:nvSpPr>
        <p:spPr>
          <a:xfrm>
            <a:off x="457200" y="5230368"/>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5321808"/>
            <a:ext cx="11064240" cy="320040"/>
          </a:xfrm>
          <a:prstGeom prst="rect">
            <a:avLst/>
          </a:prstGeom>
          <a:noFill/>
        </p:spPr>
        <p:txBody>
          <a:bodyPr wrap="square">
            <a:spAutoFit/>
          </a:bodyPr>
          <a:lstStyle/>
          <a:p>
            <a:pPr algn="l"/>
            <a:r>
              <a:rPr sz="1100" b="0" i="0">
                <a:solidFill>
                  <a:srgbClr val="554400"/>
                </a:solidFill>
              </a:rPr>
              <a:t>💡 ヒント：売上金額に誤りがある場合は直接修正せず、受注管理の元レコードを修正してから再連携を依頼してください。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売上管理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売上計上の手順</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受注から連携されたレコードを確認し、売上として計上します</a:t>
            </a:r>
          </a:p>
        </p:txBody>
      </p:sp>
      <p:sp>
        <p:nvSpPr>
          <p:cNvPr id="9" name="Rectangle 8"/>
          <p:cNvSpPr/>
          <p:nvPr/>
        </p:nvSpPr>
        <p:spPr>
          <a:xfrm>
            <a:off x="457200" y="141732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545336"/>
            <a:ext cx="493776" cy="493776"/>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11" name="TextBox 10"/>
          <p:cNvSpPr txBox="1"/>
          <p:nvPr/>
        </p:nvSpPr>
        <p:spPr>
          <a:xfrm>
            <a:off x="1261872" y="1481328"/>
            <a:ext cx="8686800" cy="310896"/>
          </a:xfrm>
          <a:prstGeom prst="rect">
            <a:avLst/>
          </a:prstGeom>
          <a:noFill/>
        </p:spPr>
        <p:txBody>
          <a:bodyPr wrap="square">
            <a:spAutoFit/>
          </a:bodyPr>
          <a:lstStyle/>
          <a:p>
            <a:pPr algn="l"/>
            <a:r>
              <a:rPr sz="1400" b="1" i="0">
                <a:solidFill>
                  <a:srgbClr val="1A1A2E"/>
                </a:solidFill>
              </a:rPr>
              <a:t>売上管理アプリを開く</a:t>
            </a:r>
          </a:p>
        </p:txBody>
      </p:sp>
      <p:sp>
        <p:nvSpPr>
          <p:cNvPr id="12" name="TextBox 11"/>
          <p:cNvSpPr txBox="1"/>
          <p:nvPr/>
        </p:nvSpPr>
        <p:spPr>
          <a:xfrm>
            <a:off x="1261872" y="1810512"/>
            <a:ext cx="10241280" cy="301752"/>
          </a:xfrm>
          <a:prstGeom prst="rect">
            <a:avLst/>
          </a:prstGeom>
          <a:noFill/>
        </p:spPr>
        <p:txBody>
          <a:bodyPr wrap="square">
            <a:spAutoFit/>
          </a:bodyPr>
          <a:lstStyle/>
          <a:p>
            <a:pPr algn="l"/>
            <a:r>
              <a:rPr sz="1100" b="0" i="0">
                <a:solidFill>
                  <a:srgbClr val="555566"/>
                </a:solidFill>
              </a:rPr>
              <a:t>上部メニュー「売上管理（設定反映版）」をクリック。左メニューで「計上待ち」のビューを選択</a:t>
            </a:r>
          </a:p>
        </p:txBody>
      </p:sp>
      <p:sp>
        <p:nvSpPr>
          <p:cNvPr id="13" name="Rectangle 12"/>
          <p:cNvSpPr/>
          <p:nvPr/>
        </p:nvSpPr>
        <p:spPr>
          <a:xfrm>
            <a:off x="457200" y="228600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2414016"/>
            <a:ext cx="493776" cy="493776"/>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15" name="TextBox 14"/>
          <p:cNvSpPr txBox="1"/>
          <p:nvPr/>
        </p:nvSpPr>
        <p:spPr>
          <a:xfrm>
            <a:off x="1261872" y="2350008"/>
            <a:ext cx="8686800" cy="310896"/>
          </a:xfrm>
          <a:prstGeom prst="rect">
            <a:avLst/>
          </a:prstGeom>
          <a:noFill/>
        </p:spPr>
        <p:txBody>
          <a:bodyPr wrap="square">
            <a:spAutoFit/>
          </a:bodyPr>
          <a:lstStyle/>
          <a:p>
            <a:pPr algn="l"/>
            <a:r>
              <a:rPr sz="1400" b="1" i="0">
                <a:solidFill>
                  <a:srgbClr val="1A1A2E"/>
                </a:solidFill>
              </a:rPr>
              <a:t>連携されたレコードを開いて内容確認</a:t>
            </a:r>
          </a:p>
        </p:txBody>
      </p:sp>
      <p:sp>
        <p:nvSpPr>
          <p:cNvPr id="16" name="TextBox 15"/>
          <p:cNvSpPr txBox="1"/>
          <p:nvPr/>
        </p:nvSpPr>
        <p:spPr>
          <a:xfrm>
            <a:off x="1261872" y="2679192"/>
            <a:ext cx="10241280" cy="301752"/>
          </a:xfrm>
          <a:prstGeom prst="rect">
            <a:avLst/>
          </a:prstGeom>
          <a:noFill/>
        </p:spPr>
        <p:txBody>
          <a:bodyPr wrap="square">
            <a:spAutoFit/>
          </a:bodyPr>
          <a:lstStyle/>
          <a:p>
            <a:pPr algn="l"/>
            <a:r>
              <a:rPr sz="1100" b="0" i="0">
                <a:solidFill>
                  <a:srgbClr val="555566"/>
                </a:solidFill>
              </a:rPr>
              <a:t>受注番号・得意先名・商品名・数量・金額が正しいか確認。受注管理の内容と照合する</a:t>
            </a:r>
          </a:p>
        </p:txBody>
      </p:sp>
      <p:sp>
        <p:nvSpPr>
          <p:cNvPr id="17" name="Rectangle 16"/>
          <p:cNvSpPr/>
          <p:nvPr/>
        </p:nvSpPr>
        <p:spPr>
          <a:xfrm>
            <a:off x="457200" y="315468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282696"/>
            <a:ext cx="493776" cy="493776"/>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19" name="TextBox 18"/>
          <p:cNvSpPr txBox="1"/>
          <p:nvPr/>
        </p:nvSpPr>
        <p:spPr>
          <a:xfrm>
            <a:off x="1261872" y="3218688"/>
            <a:ext cx="8686800" cy="310896"/>
          </a:xfrm>
          <a:prstGeom prst="rect">
            <a:avLst/>
          </a:prstGeom>
          <a:noFill/>
        </p:spPr>
        <p:txBody>
          <a:bodyPr wrap="square">
            <a:spAutoFit/>
          </a:bodyPr>
          <a:lstStyle/>
          <a:p>
            <a:pPr algn="l"/>
            <a:r>
              <a:rPr sz="1400" b="1" i="0">
                <a:solidFill>
                  <a:srgbClr val="1A1A2E"/>
                </a:solidFill>
              </a:rPr>
              <a:t>金額・数量を確認・必要に応じて修正</a:t>
            </a:r>
          </a:p>
        </p:txBody>
      </p:sp>
      <p:sp>
        <p:nvSpPr>
          <p:cNvPr id="20" name="TextBox 19"/>
          <p:cNvSpPr txBox="1"/>
          <p:nvPr/>
        </p:nvSpPr>
        <p:spPr>
          <a:xfrm>
            <a:off x="1261872" y="3547872"/>
            <a:ext cx="10241280" cy="301752"/>
          </a:xfrm>
          <a:prstGeom prst="rect">
            <a:avLst/>
          </a:prstGeom>
          <a:noFill/>
        </p:spPr>
        <p:txBody>
          <a:bodyPr wrap="square">
            <a:spAutoFit/>
          </a:bodyPr>
          <a:lstStyle/>
          <a:p>
            <a:pPr algn="l"/>
            <a:r>
              <a:rPr sz="1100" b="0" i="0">
                <a:solidFill>
                  <a:srgbClr val="555566"/>
                </a:solidFill>
              </a:rPr>
              <a:t>納品数量の変更や返品がある場合はこの時点で修正。修正理由は備考欄に必ず記録する</a:t>
            </a:r>
          </a:p>
        </p:txBody>
      </p:sp>
      <p:sp>
        <p:nvSpPr>
          <p:cNvPr id="21" name="Rectangle 20"/>
          <p:cNvSpPr/>
          <p:nvPr/>
        </p:nvSpPr>
        <p:spPr>
          <a:xfrm>
            <a:off x="457200" y="402336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151376"/>
            <a:ext cx="493776" cy="493776"/>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4</a:t>
            </a:r>
          </a:p>
        </p:txBody>
      </p:sp>
      <p:sp>
        <p:nvSpPr>
          <p:cNvPr id="23" name="TextBox 22"/>
          <p:cNvSpPr txBox="1"/>
          <p:nvPr/>
        </p:nvSpPr>
        <p:spPr>
          <a:xfrm>
            <a:off x="1261872" y="4087368"/>
            <a:ext cx="8686800" cy="310896"/>
          </a:xfrm>
          <a:prstGeom prst="rect">
            <a:avLst/>
          </a:prstGeom>
          <a:noFill/>
        </p:spPr>
        <p:txBody>
          <a:bodyPr wrap="square">
            <a:spAutoFit/>
          </a:bodyPr>
          <a:lstStyle/>
          <a:p>
            <a:pPr algn="l"/>
            <a:r>
              <a:rPr sz="1400" b="1" i="0">
                <a:solidFill>
                  <a:srgbClr val="1A1A2E"/>
                </a:solidFill>
              </a:rPr>
              <a:t>ステータスを「計上済」に変更して保存</a:t>
            </a:r>
          </a:p>
        </p:txBody>
      </p:sp>
      <p:sp>
        <p:nvSpPr>
          <p:cNvPr id="24" name="TextBox 23"/>
          <p:cNvSpPr txBox="1"/>
          <p:nvPr/>
        </p:nvSpPr>
        <p:spPr>
          <a:xfrm>
            <a:off x="1261872" y="4416552"/>
            <a:ext cx="10241280" cy="301752"/>
          </a:xfrm>
          <a:prstGeom prst="rect">
            <a:avLst/>
          </a:prstGeom>
          <a:noFill/>
        </p:spPr>
        <p:txBody>
          <a:bodyPr wrap="square">
            <a:spAutoFit/>
          </a:bodyPr>
          <a:lstStyle/>
          <a:p>
            <a:pPr algn="l"/>
            <a:r>
              <a:rPr sz="1100" b="0" i="0">
                <a:solidFill>
                  <a:srgbClr val="555566"/>
                </a:solidFill>
              </a:rPr>
              <a:t>「編集」→ ステータスを「計上済」に変更 → 「保存」。計上日も正確な日付で入力すること</a:t>
            </a:r>
          </a:p>
        </p:txBody>
      </p:sp>
      <p:sp>
        <p:nvSpPr>
          <p:cNvPr id="25" name="Rectangle 24"/>
          <p:cNvSpPr/>
          <p:nvPr/>
        </p:nvSpPr>
        <p:spPr>
          <a:xfrm>
            <a:off x="457200" y="489204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1792" y="5020056"/>
            <a:ext cx="493776" cy="493776"/>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5</a:t>
            </a:r>
          </a:p>
        </p:txBody>
      </p:sp>
      <p:sp>
        <p:nvSpPr>
          <p:cNvPr id="27" name="TextBox 26"/>
          <p:cNvSpPr txBox="1"/>
          <p:nvPr/>
        </p:nvSpPr>
        <p:spPr>
          <a:xfrm>
            <a:off x="1261872" y="4956048"/>
            <a:ext cx="8686800" cy="310896"/>
          </a:xfrm>
          <a:prstGeom prst="rect">
            <a:avLst/>
          </a:prstGeom>
          <a:noFill/>
        </p:spPr>
        <p:txBody>
          <a:bodyPr wrap="square">
            <a:spAutoFit/>
          </a:bodyPr>
          <a:lstStyle/>
          <a:p>
            <a:pPr algn="l"/>
            <a:r>
              <a:rPr sz="1400" b="1" i="0">
                <a:solidFill>
                  <a:srgbClr val="1A1A2E"/>
                </a:solidFill>
              </a:rPr>
              <a:t>経理担当へコメントで通知（必要時）</a:t>
            </a:r>
          </a:p>
        </p:txBody>
      </p:sp>
      <p:sp>
        <p:nvSpPr>
          <p:cNvPr id="28" name="TextBox 27"/>
          <p:cNvSpPr txBox="1"/>
          <p:nvPr/>
        </p:nvSpPr>
        <p:spPr>
          <a:xfrm>
            <a:off x="1261872" y="5285232"/>
            <a:ext cx="10241280" cy="301752"/>
          </a:xfrm>
          <a:prstGeom prst="rect">
            <a:avLst/>
          </a:prstGeom>
          <a:noFill/>
        </p:spPr>
        <p:txBody>
          <a:bodyPr wrap="square">
            <a:spAutoFit/>
          </a:bodyPr>
          <a:lstStyle/>
          <a:p>
            <a:pPr algn="l"/>
            <a:r>
              <a:rPr sz="1100" b="0" i="0">
                <a:solidFill>
                  <a:srgbClr val="555566"/>
                </a:solidFill>
              </a:rPr>
              <a:t>月末締め処理や特別案件の場合は@経理担当者名 でコメント通知を送る</a:t>
            </a:r>
          </a:p>
        </p:txBody>
      </p:sp>
      <p:sp>
        <p:nvSpPr>
          <p:cNvPr id="29" name="Rectangle 28"/>
          <p:cNvSpPr/>
          <p:nvPr/>
        </p:nvSpPr>
        <p:spPr>
          <a:xfrm>
            <a:off x="457200" y="5897880"/>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989320"/>
            <a:ext cx="11064240" cy="320040"/>
          </a:xfrm>
          <a:prstGeom prst="rect">
            <a:avLst/>
          </a:prstGeom>
          <a:noFill/>
        </p:spPr>
        <p:txBody>
          <a:bodyPr wrap="square">
            <a:spAutoFit/>
          </a:bodyPr>
          <a:lstStyle/>
          <a:p>
            <a:pPr algn="l"/>
            <a:r>
              <a:rPr sz="1100" b="0" i="0">
                <a:solidFill>
                  <a:srgbClr val="554400"/>
                </a:solidFill>
              </a:rPr>
              <a:t>💡 ヒント：月次締め処理のタイミングに注意。当月売上は必ず月末までに「計上済」にしてください。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0" y="4114800"/>
            <a:ext cx="2926080" cy="2286000"/>
          </a:xfrm>
          <a:prstGeom prst="rect">
            <a:avLst/>
          </a:prstGeom>
          <a:noFill/>
        </p:spPr>
        <p:txBody>
          <a:bodyPr wrap="square">
            <a:spAutoFit/>
          </a:bodyPr>
          <a:lstStyle/>
          <a:p>
            <a:pPr algn="r"/>
            <a:r>
              <a:rPr sz="11000" b="1" i="0">
                <a:solidFill>
                  <a:srgbClr val="8953EA"/>
                </a:solidFill>
              </a:rPr>
              <a:t>03</a:t>
            </a:r>
          </a:p>
        </p:txBody>
      </p:sp>
      <p:sp>
        <p:nvSpPr>
          <p:cNvPr id="4" name="TextBox 3"/>
          <p:cNvSpPr txBox="1"/>
          <p:nvPr/>
        </p:nvSpPr>
        <p:spPr>
          <a:xfrm>
            <a:off x="1097280" y="2194560"/>
            <a:ext cx="9601200" cy="1188720"/>
          </a:xfrm>
          <a:prstGeom prst="rect">
            <a:avLst/>
          </a:prstGeom>
          <a:noFill/>
        </p:spPr>
        <p:txBody>
          <a:bodyPr wrap="square">
            <a:spAutoFit/>
          </a:bodyPr>
          <a:lstStyle/>
          <a:p>
            <a:pPr algn="ctr"/>
            <a:r>
              <a:rPr sz="4600" b="1" i="0">
                <a:solidFill>
                  <a:srgbClr val="FFFFFF"/>
                </a:solidFill>
              </a:rPr>
              <a:t>請求管理（設定反映版）</a:t>
            </a:r>
          </a:p>
        </p:txBody>
      </p:sp>
      <p:sp>
        <p:nvSpPr>
          <p:cNvPr id="5" name="TextBox 4"/>
          <p:cNvSpPr txBox="1"/>
          <p:nvPr/>
        </p:nvSpPr>
        <p:spPr>
          <a:xfrm>
            <a:off x="1097280" y="3429000"/>
            <a:ext cx="9601200" cy="594360"/>
          </a:xfrm>
          <a:prstGeom prst="rect">
            <a:avLst/>
          </a:prstGeom>
          <a:noFill/>
        </p:spPr>
        <p:txBody>
          <a:bodyPr wrap="square">
            <a:spAutoFit/>
          </a:bodyPr>
          <a:lstStyle/>
          <a:p>
            <a:pPr algn="ctr"/>
            <a:r>
              <a:rPr sz="1800" b="0" i="0">
                <a:solidFill>
                  <a:srgbClr val="FFFFFF"/>
                </a:solidFill>
              </a:rPr>
              <a:t>売上確定後に請求書を作成・発行するアプリ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請求管理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請求管理アプリの概要</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売上管理から連携されたデータをもとに請求書を作成し、顧客へ送付します</a:t>
            </a:r>
          </a:p>
        </p:txBody>
      </p:sp>
      <p:sp>
        <p:nvSpPr>
          <p:cNvPr id="9" name="Rectangle 8"/>
          <p:cNvSpPr/>
          <p:nvPr/>
        </p:nvSpPr>
        <p:spPr>
          <a:xfrm>
            <a:off x="457200" y="1417320"/>
            <a:ext cx="539496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27048"/>
            <a:ext cx="5120640" cy="292608"/>
          </a:xfrm>
          <a:prstGeom prst="rect">
            <a:avLst/>
          </a:prstGeom>
          <a:noFill/>
        </p:spPr>
        <p:txBody>
          <a:bodyPr wrap="square">
            <a:spAutoFit/>
          </a:bodyPr>
          <a:lstStyle/>
          <a:p>
            <a:pPr algn="l"/>
            <a:r>
              <a:rPr sz="1300" b="1" i="0">
                <a:solidFill>
                  <a:srgbClr val="6B35CC"/>
                </a:solidFill>
              </a:rPr>
              <a:t>📄 主なフィールド</a:t>
            </a:r>
          </a:p>
        </p:txBody>
      </p:sp>
      <p:sp>
        <p:nvSpPr>
          <p:cNvPr id="11" name="TextBox 10"/>
          <p:cNvSpPr txBox="1"/>
          <p:nvPr/>
        </p:nvSpPr>
        <p:spPr>
          <a:xfrm>
            <a:off x="640080" y="1892808"/>
            <a:ext cx="5029200" cy="274320"/>
          </a:xfrm>
          <a:prstGeom prst="rect">
            <a:avLst/>
          </a:prstGeom>
          <a:noFill/>
        </p:spPr>
        <p:txBody>
          <a:bodyPr wrap="square">
            <a:spAutoFit/>
          </a:bodyPr>
          <a:lstStyle/>
          <a:p>
            <a:pPr algn="l"/>
            <a:r>
              <a:rPr sz="1100" b="0" i="0">
                <a:solidFill>
                  <a:srgbClr val="1A1A2E"/>
                </a:solidFill>
              </a:rPr>
              <a:t>▸ 請求番号（自動採番）</a:t>
            </a:r>
          </a:p>
        </p:txBody>
      </p:sp>
      <p:sp>
        <p:nvSpPr>
          <p:cNvPr id="12" name="TextBox 11"/>
          <p:cNvSpPr txBox="1"/>
          <p:nvPr/>
        </p:nvSpPr>
        <p:spPr>
          <a:xfrm>
            <a:off x="640080" y="2167128"/>
            <a:ext cx="5029200" cy="274320"/>
          </a:xfrm>
          <a:prstGeom prst="rect">
            <a:avLst/>
          </a:prstGeom>
          <a:noFill/>
        </p:spPr>
        <p:txBody>
          <a:bodyPr wrap="square">
            <a:spAutoFit/>
          </a:bodyPr>
          <a:lstStyle/>
          <a:p>
            <a:pPr algn="l"/>
            <a:r>
              <a:rPr sz="1100" b="0" i="0">
                <a:solidFill>
                  <a:srgbClr val="1A1A2E"/>
                </a:solidFill>
              </a:rPr>
              <a:t>▸ 連携売上番号・受注番号</a:t>
            </a:r>
          </a:p>
        </p:txBody>
      </p:sp>
      <p:sp>
        <p:nvSpPr>
          <p:cNvPr id="13" name="TextBox 12"/>
          <p:cNvSpPr txBox="1"/>
          <p:nvPr/>
        </p:nvSpPr>
        <p:spPr>
          <a:xfrm>
            <a:off x="640080" y="2441448"/>
            <a:ext cx="5029200" cy="274320"/>
          </a:xfrm>
          <a:prstGeom prst="rect">
            <a:avLst/>
          </a:prstGeom>
          <a:noFill/>
        </p:spPr>
        <p:txBody>
          <a:bodyPr wrap="square">
            <a:spAutoFit/>
          </a:bodyPr>
          <a:lstStyle/>
          <a:p>
            <a:pPr algn="l"/>
            <a:r>
              <a:rPr sz="1100" b="0" i="0">
                <a:solidFill>
                  <a:srgbClr val="1A1A2E"/>
                </a:solidFill>
              </a:rPr>
              <a:t>▸ 請求先（得意先名・住所）</a:t>
            </a:r>
          </a:p>
        </p:txBody>
      </p:sp>
      <p:sp>
        <p:nvSpPr>
          <p:cNvPr id="14" name="TextBox 13"/>
          <p:cNvSpPr txBox="1"/>
          <p:nvPr/>
        </p:nvSpPr>
        <p:spPr>
          <a:xfrm>
            <a:off x="640080" y="2715768"/>
            <a:ext cx="5029200" cy="274320"/>
          </a:xfrm>
          <a:prstGeom prst="rect">
            <a:avLst/>
          </a:prstGeom>
          <a:noFill/>
        </p:spPr>
        <p:txBody>
          <a:bodyPr wrap="square">
            <a:spAutoFit/>
          </a:bodyPr>
          <a:lstStyle/>
          <a:p>
            <a:pPr algn="l"/>
            <a:r>
              <a:rPr sz="1100" b="0" i="0">
                <a:solidFill>
                  <a:srgbClr val="1A1A2E"/>
                </a:solidFill>
              </a:rPr>
              <a:t>▸ 請求金額・消費税・合計金額</a:t>
            </a:r>
          </a:p>
        </p:txBody>
      </p:sp>
      <p:sp>
        <p:nvSpPr>
          <p:cNvPr id="15" name="TextBox 14"/>
          <p:cNvSpPr txBox="1"/>
          <p:nvPr/>
        </p:nvSpPr>
        <p:spPr>
          <a:xfrm>
            <a:off x="640080" y="2990088"/>
            <a:ext cx="5029200" cy="274320"/>
          </a:xfrm>
          <a:prstGeom prst="rect">
            <a:avLst/>
          </a:prstGeom>
          <a:noFill/>
        </p:spPr>
        <p:txBody>
          <a:bodyPr wrap="square">
            <a:spAutoFit/>
          </a:bodyPr>
          <a:lstStyle/>
          <a:p>
            <a:pPr algn="l"/>
            <a:r>
              <a:rPr sz="1100" b="0" i="0">
                <a:solidFill>
                  <a:srgbClr val="1A1A2E"/>
                </a:solidFill>
              </a:rPr>
              <a:t>▸ 請求日・支払期限</a:t>
            </a:r>
          </a:p>
        </p:txBody>
      </p:sp>
      <p:sp>
        <p:nvSpPr>
          <p:cNvPr id="16" name="TextBox 15"/>
          <p:cNvSpPr txBox="1"/>
          <p:nvPr/>
        </p:nvSpPr>
        <p:spPr>
          <a:xfrm>
            <a:off x="640080" y="3264408"/>
            <a:ext cx="5029200" cy="274320"/>
          </a:xfrm>
          <a:prstGeom prst="rect">
            <a:avLst/>
          </a:prstGeom>
          <a:noFill/>
        </p:spPr>
        <p:txBody>
          <a:bodyPr wrap="square">
            <a:spAutoFit/>
          </a:bodyPr>
          <a:lstStyle/>
          <a:p>
            <a:pPr algn="l"/>
            <a:r>
              <a:rPr sz="1100" b="0" i="0">
                <a:solidFill>
                  <a:srgbClr val="1A1A2E"/>
                </a:solidFill>
              </a:rPr>
              <a:t>▸ ステータス（作成中/承認待ち/送付済/入金待ち）</a:t>
            </a:r>
          </a:p>
        </p:txBody>
      </p:sp>
      <p:sp>
        <p:nvSpPr>
          <p:cNvPr id="17" name="Rectangle 16"/>
          <p:cNvSpPr/>
          <p:nvPr/>
        </p:nvSpPr>
        <p:spPr>
          <a:xfrm>
            <a:off x="6035040" y="1417320"/>
            <a:ext cx="539496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527048"/>
            <a:ext cx="5120640" cy="292608"/>
          </a:xfrm>
          <a:prstGeom prst="rect">
            <a:avLst/>
          </a:prstGeom>
          <a:noFill/>
        </p:spPr>
        <p:txBody>
          <a:bodyPr wrap="square">
            <a:spAutoFit/>
          </a:bodyPr>
          <a:lstStyle/>
          <a:p>
            <a:pPr algn="l"/>
            <a:r>
              <a:rPr sz="1300" b="1" i="0">
                <a:solidFill>
                  <a:srgbClr val="6B35CC"/>
                </a:solidFill>
              </a:rPr>
              <a:t>🔄 ステータスの流れ</a:t>
            </a:r>
          </a:p>
        </p:txBody>
      </p:sp>
      <p:sp>
        <p:nvSpPr>
          <p:cNvPr id="19" name="TextBox 18"/>
          <p:cNvSpPr txBox="1"/>
          <p:nvPr/>
        </p:nvSpPr>
        <p:spPr>
          <a:xfrm>
            <a:off x="6217920" y="1892808"/>
            <a:ext cx="5029200" cy="274320"/>
          </a:xfrm>
          <a:prstGeom prst="rect">
            <a:avLst/>
          </a:prstGeom>
          <a:noFill/>
        </p:spPr>
        <p:txBody>
          <a:bodyPr wrap="square">
            <a:spAutoFit/>
          </a:bodyPr>
          <a:lstStyle/>
          <a:p>
            <a:pPr algn="l"/>
            <a:r>
              <a:rPr sz="1100" b="0" i="0">
                <a:solidFill>
                  <a:srgbClr val="1A1A2E"/>
                </a:solidFill>
              </a:rPr>
              <a:t>▸ ① 作成中　→　請求書データ入力中</a:t>
            </a:r>
          </a:p>
        </p:txBody>
      </p:sp>
      <p:sp>
        <p:nvSpPr>
          <p:cNvPr id="20" name="TextBox 19"/>
          <p:cNvSpPr txBox="1"/>
          <p:nvPr/>
        </p:nvSpPr>
        <p:spPr>
          <a:xfrm>
            <a:off x="6217920" y="2167128"/>
            <a:ext cx="5029200" cy="274320"/>
          </a:xfrm>
          <a:prstGeom prst="rect">
            <a:avLst/>
          </a:prstGeom>
          <a:noFill/>
        </p:spPr>
        <p:txBody>
          <a:bodyPr wrap="square">
            <a:spAutoFit/>
          </a:bodyPr>
          <a:lstStyle/>
          <a:p>
            <a:pPr algn="l"/>
            <a:r>
              <a:rPr sz="1100" b="0" i="0">
                <a:solidFill>
                  <a:srgbClr val="1A1A2E"/>
                </a:solidFill>
              </a:rPr>
              <a:t>▸ ② 承認待ち　→　上長確認依頼中</a:t>
            </a:r>
          </a:p>
        </p:txBody>
      </p:sp>
      <p:sp>
        <p:nvSpPr>
          <p:cNvPr id="21" name="TextBox 20"/>
          <p:cNvSpPr txBox="1"/>
          <p:nvPr/>
        </p:nvSpPr>
        <p:spPr>
          <a:xfrm>
            <a:off x="6217920" y="2441448"/>
            <a:ext cx="5029200" cy="274320"/>
          </a:xfrm>
          <a:prstGeom prst="rect">
            <a:avLst/>
          </a:prstGeom>
          <a:noFill/>
        </p:spPr>
        <p:txBody>
          <a:bodyPr wrap="square">
            <a:spAutoFit/>
          </a:bodyPr>
          <a:lstStyle/>
          <a:p>
            <a:pPr algn="l"/>
            <a:r>
              <a:rPr sz="1100" b="0" i="0">
                <a:solidFill>
                  <a:srgbClr val="1A1A2E"/>
                </a:solidFill>
              </a:rPr>
              <a:t>▸ ③ 送付済　→　顧客へメール/郵送済み</a:t>
            </a:r>
          </a:p>
        </p:txBody>
      </p:sp>
      <p:sp>
        <p:nvSpPr>
          <p:cNvPr id="22" name="TextBox 21"/>
          <p:cNvSpPr txBox="1"/>
          <p:nvPr/>
        </p:nvSpPr>
        <p:spPr>
          <a:xfrm>
            <a:off x="6217920" y="2715768"/>
            <a:ext cx="5029200" cy="274320"/>
          </a:xfrm>
          <a:prstGeom prst="rect">
            <a:avLst/>
          </a:prstGeom>
          <a:noFill/>
        </p:spPr>
        <p:txBody>
          <a:bodyPr wrap="square">
            <a:spAutoFit/>
          </a:bodyPr>
          <a:lstStyle/>
          <a:p>
            <a:pPr algn="l"/>
            <a:r>
              <a:rPr sz="1100" b="0" i="0">
                <a:solidFill>
                  <a:srgbClr val="1A1A2E"/>
                </a:solidFill>
              </a:rPr>
              <a:t>▸ ④ 入金待ち　→　入金管理へ連携済み</a:t>
            </a:r>
          </a:p>
        </p:txBody>
      </p:sp>
      <p:sp>
        <p:nvSpPr>
          <p:cNvPr id="23" name="TextBox 22"/>
          <p:cNvSpPr txBox="1"/>
          <p:nvPr/>
        </p:nvSpPr>
        <p:spPr>
          <a:xfrm>
            <a:off x="6217920" y="2990088"/>
            <a:ext cx="5029200" cy="274320"/>
          </a:xfrm>
          <a:prstGeom prst="rect">
            <a:avLst/>
          </a:prstGeom>
          <a:noFill/>
        </p:spPr>
        <p:txBody>
          <a:bodyPr wrap="square">
            <a:spAutoFit/>
          </a:bodyPr>
          <a:lstStyle/>
          <a:p>
            <a:pPr algn="l"/>
            <a:r>
              <a:rPr sz="1100" b="0" i="0">
                <a:solidFill>
                  <a:srgbClr val="1A1A2E"/>
                </a:solidFill>
              </a:rPr>
              <a:t>▸ ⑤ 完了　→　入金確認・消込完了</a:t>
            </a:r>
          </a:p>
        </p:txBody>
      </p:sp>
      <p:sp>
        <p:nvSpPr>
          <p:cNvPr id="24" name="Rectangle 23"/>
          <p:cNvSpPr/>
          <p:nvPr/>
        </p:nvSpPr>
        <p:spPr>
          <a:xfrm>
            <a:off x="457200" y="3977639"/>
            <a:ext cx="1828800" cy="3840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作成中</a:t>
            </a:r>
          </a:p>
        </p:txBody>
      </p:sp>
      <p:sp>
        <p:nvSpPr>
          <p:cNvPr id="25" name="Can 24"/>
          <p:cNvSpPr/>
          <p:nvPr/>
        </p:nvSpPr>
        <p:spPr>
          <a:xfrm>
            <a:off x="2340864" y="4005072"/>
            <a:ext cx="274320"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670048" y="3977639"/>
            <a:ext cx="1828800" cy="384048"/>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承認待ち</a:t>
            </a:r>
          </a:p>
        </p:txBody>
      </p:sp>
      <p:sp>
        <p:nvSpPr>
          <p:cNvPr id="27" name="Can 26"/>
          <p:cNvSpPr/>
          <p:nvPr/>
        </p:nvSpPr>
        <p:spPr>
          <a:xfrm>
            <a:off x="4553712" y="4005072"/>
            <a:ext cx="274320"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82896" y="3977639"/>
            <a:ext cx="1828800" cy="384048"/>
          </a:xfrm>
          <a:prstGeom prst="rect">
            <a:avLst/>
          </a:prstGeom>
          <a:solidFill>
            <a:srgbClr val="995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送付済</a:t>
            </a:r>
          </a:p>
        </p:txBody>
      </p:sp>
      <p:sp>
        <p:nvSpPr>
          <p:cNvPr id="29" name="Can 28"/>
          <p:cNvSpPr/>
          <p:nvPr/>
        </p:nvSpPr>
        <p:spPr>
          <a:xfrm>
            <a:off x="6766560" y="4005072"/>
            <a:ext cx="274320"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95744" y="3977639"/>
            <a:ext cx="1828800" cy="3840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入金待ち</a:t>
            </a:r>
          </a:p>
        </p:txBody>
      </p:sp>
      <p:sp>
        <p:nvSpPr>
          <p:cNvPr id="31" name="Can 30"/>
          <p:cNvSpPr/>
          <p:nvPr/>
        </p:nvSpPr>
        <p:spPr>
          <a:xfrm>
            <a:off x="8979408" y="4005072"/>
            <a:ext cx="274320"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308592" y="3977639"/>
            <a:ext cx="1828800" cy="384048"/>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完了</a:t>
            </a:r>
          </a:p>
        </p:txBody>
      </p:sp>
      <p:sp>
        <p:nvSpPr>
          <p:cNvPr id="33" name="Rectangle 32"/>
          <p:cNvSpPr/>
          <p:nvPr/>
        </p:nvSpPr>
        <p:spPr>
          <a:xfrm>
            <a:off x="457200" y="4526280"/>
            <a:ext cx="11274552" cy="566928"/>
          </a:xfrm>
          <a:prstGeom prst="rect">
            <a:avLst/>
          </a:prstGeom>
          <a:solidFill>
            <a:srgbClr val="F3EEFF"/>
          </a:solidFill>
          <a:ln w="25400">
            <a:solidFill>
              <a:srgbClr val="6B3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572000"/>
            <a:ext cx="10972800" cy="237744"/>
          </a:xfrm>
          <a:prstGeom prst="rect">
            <a:avLst/>
          </a:prstGeom>
          <a:noFill/>
        </p:spPr>
        <p:txBody>
          <a:bodyPr wrap="square">
            <a:spAutoFit/>
          </a:bodyPr>
          <a:lstStyle/>
          <a:p>
            <a:pPr algn="l"/>
            <a:r>
              <a:rPr sz="1100" b="1" i="0">
                <a:solidFill>
                  <a:srgbClr val="6B35CC"/>
                </a:solidFill>
              </a:rPr>
              <a:t>💡 請求書の出力方法</a:t>
            </a:r>
          </a:p>
        </p:txBody>
      </p:sp>
      <p:sp>
        <p:nvSpPr>
          <p:cNvPr id="35" name="TextBox 34"/>
          <p:cNvSpPr txBox="1"/>
          <p:nvPr/>
        </p:nvSpPr>
        <p:spPr>
          <a:xfrm>
            <a:off x="621792" y="4828032"/>
            <a:ext cx="10972800" cy="237744"/>
          </a:xfrm>
          <a:prstGeom prst="rect">
            <a:avLst/>
          </a:prstGeom>
          <a:noFill/>
        </p:spPr>
        <p:txBody>
          <a:bodyPr wrap="square">
            <a:spAutoFit/>
          </a:bodyPr>
          <a:lstStyle/>
          <a:p>
            <a:pPr algn="l"/>
            <a:r>
              <a:rPr sz="1100" b="0" i="0">
                <a:solidFill>
                  <a:srgbClr val="1A1A2E"/>
                </a:solidFill>
              </a:rPr>
              <a:t>詳細画面右上の「印刷」または「PDFダウンロード」から請求書PDFを出力できます</a:t>
            </a:r>
          </a:p>
        </p:txBody>
      </p:sp>
      <p:sp>
        <p:nvSpPr>
          <p:cNvPr id="36" name="Rectangle 35"/>
          <p:cNvSpPr/>
          <p:nvPr/>
        </p:nvSpPr>
        <p:spPr>
          <a:xfrm>
            <a:off x="457200" y="5230368"/>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5321808"/>
            <a:ext cx="11064240" cy="320040"/>
          </a:xfrm>
          <a:prstGeom prst="rect">
            <a:avLst/>
          </a:prstGeom>
          <a:noFill/>
        </p:spPr>
        <p:txBody>
          <a:bodyPr wrap="square">
            <a:spAutoFit/>
          </a:bodyPr>
          <a:lstStyle/>
          <a:p>
            <a:pPr algn="l"/>
            <a:r>
              <a:rPr sz="1100" b="0" i="0">
                <a:solidFill>
                  <a:srgbClr val="554400"/>
                </a:solidFill>
              </a:rPr>
              <a:t>💡 ヒント：支払期限は「請求日から30日後」など、得意先ごとの締め支払条件に合わせて設定してください。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請求管理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請求書作成・送付の手順</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売上管理から連携されたレコードをもとに請求書を完成させます</a:t>
            </a:r>
          </a:p>
        </p:txBody>
      </p:sp>
      <p:sp>
        <p:nvSpPr>
          <p:cNvPr id="9" name="Rectangle 8"/>
          <p:cNvSpPr/>
          <p:nvPr/>
        </p:nvSpPr>
        <p:spPr>
          <a:xfrm>
            <a:off x="457200" y="141732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545336"/>
            <a:ext cx="493776" cy="493776"/>
          </a:xfrm>
          <a:prstGeom prst="ellipse">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11" name="TextBox 10"/>
          <p:cNvSpPr txBox="1"/>
          <p:nvPr/>
        </p:nvSpPr>
        <p:spPr>
          <a:xfrm>
            <a:off x="1261872" y="1481328"/>
            <a:ext cx="8686800" cy="310896"/>
          </a:xfrm>
          <a:prstGeom prst="rect">
            <a:avLst/>
          </a:prstGeom>
          <a:noFill/>
        </p:spPr>
        <p:txBody>
          <a:bodyPr wrap="square">
            <a:spAutoFit/>
          </a:bodyPr>
          <a:lstStyle/>
          <a:p>
            <a:pPr algn="l"/>
            <a:r>
              <a:rPr sz="1400" b="1" i="0">
                <a:solidFill>
                  <a:srgbClr val="1A1A2E"/>
                </a:solidFill>
              </a:rPr>
              <a:t>請求管理アプリを開く</a:t>
            </a:r>
          </a:p>
        </p:txBody>
      </p:sp>
      <p:sp>
        <p:nvSpPr>
          <p:cNvPr id="12" name="TextBox 11"/>
          <p:cNvSpPr txBox="1"/>
          <p:nvPr/>
        </p:nvSpPr>
        <p:spPr>
          <a:xfrm>
            <a:off x="1261872" y="1810512"/>
            <a:ext cx="10241280" cy="301752"/>
          </a:xfrm>
          <a:prstGeom prst="rect">
            <a:avLst/>
          </a:prstGeom>
          <a:noFill/>
        </p:spPr>
        <p:txBody>
          <a:bodyPr wrap="square">
            <a:spAutoFit/>
          </a:bodyPr>
          <a:lstStyle/>
          <a:p>
            <a:pPr algn="l"/>
            <a:r>
              <a:rPr sz="1100" b="0" i="0">
                <a:solidFill>
                  <a:srgbClr val="555566"/>
                </a:solidFill>
              </a:rPr>
              <a:t>上部メニュー「請求管理（設定反映版）」をクリック。「作成中」のビューで未処理を確認</a:t>
            </a:r>
          </a:p>
        </p:txBody>
      </p:sp>
      <p:sp>
        <p:nvSpPr>
          <p:cNvPr id="13" name="Rectangle 12"/>
          <p:cNvSpPr/>
          <p:nvPr/>
        </p:nvSpPr>
        <p:spPr>
          <a:xfrm>
            <a:off x="457200" y="224028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2368296"/>
            <a:ext cx="493776" cy="493776"/>
          </a:xfrm>
          <a:prstGeom prst="ellipse">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15" name="TextBox 14"/>
          <p:cNvSpPr txBox="1"/>
          <p:nvPr/>
        </p:nvSpPr>
        <p:spPr>
          <a:xfrm>
            <a:off x="1261872" y="2304288"/>
            <a:ext cx="8686800" cy="310896"/>
          </a:xfrm>
          <a:prstGeom prst="rect">
            <a:avLst/>
          </a:prstGeom>
          <a:noFill/>
        </p:spPr>
        <p:txBody>
          <a:bodyPr wrap="square">
            <a:spAutoFit/>
          </a:bodyPr>
          <a:lstStyle/>
          <a:p>
            <a:pPr algn="l"/>
            <a:r>
              <a:rPr sz="1400" b="1" i="0">
                <a:solidFill>
                  <a:srgbClr val="1A1A2E"/>
                </a:solidFill>
              </a:rPr>
              <a:t>売上管理から連携されたレコードを開く</a:t>
            </a:r>
          </a:p>
        </p:txBody>
      </p:sp>
      <p:sp>
        <p:nvSpPr>
          <p:cNvPr id="16" name="TextBox 15"/>
          <p:cNvSpPr txBox="1"/>
          <p:nvPr/>
        </p:nvSpPr>
        <p:spPr>
          <a:xfrm>
            <a:off x="1261872" y="2633472"/>
            <a:ext cx="10241280" cy="301752"/>
          </a:xfrm>
          <a:prstGeom prst="rect">
            <a:avLst/>
          </a:prstGeom>
          <a:noFill/>
        </p:spPr>
        <p:txBody>
          <a:bodyPr wrap="square">
            <a:spAutoFit/>
          </a:bodyPr>
          <a:lstStyle/>
          <a:p>
            <a:pPr algn="l"/>
            <a:r>
              <a:rPr sz="1100" b="0" i="0">
                <a:solidFill>
                  <a:srgbClr val="555566"/>
                </a:solidFill>
              </a:rPr>
              <a:t>請求先・金額・支払期限を確認。得意先の支払条件（月末締め翌月末払い等）を確認する</a:t>
            </a:r>
          </a:p>
        </p:txBody>
      </p:sp>
      <p:sp>
        <p:nvSpPr>
          <p:cNvPr id="17" name="Rectangle 16"/>
          <p:cNvSpPr/>
          <p:nvPr/>
        </p:nvSpPr>
        <p:spPr>
          <a:xfrm>
            <a:off x="457200" y="306324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91256"/>
            <a:ext cx="493776" cy="493776"/>
          </a:xfrm>
          <a:prstGeom prst="ellipse">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19" name="TextBox 18"/>
          <p:cNvSpPr txBox="1"/>
          <p:nvPr/>
        </p:nvSpPr>
        <p:spPr>
          <a:xfrm>
            <a:off x="1261872" y="3127248"/>
            <a:ext cx="8686800" cy="310896"/>
          </a:xfrm>
          <a:prstGeom prst="rect">
            <a:avLst/>
          </a:prstGeom>
          <a:noFill/>
        </p:spPr>
        <p:txBody>
          <a:bodyPr wrap="square">
            <a:spAutoFit/>
          </a:bodyPr>
          <a:lstStyle/>
          <a:p>
            <a:pPr algn="l"/>
            <a:r>
              <a:rPr sz="1400" b="1" i="0">
                <a:solidFill>
                  <a:srgbClr val="1A1A2E"/>
                </a:solidFill>
              </a:rPr>
              <a:t>不備がなければ「承認待ち」に変更して上長へ申請</a:t>
            </a:r>
          </a:p>
        </p:txBody>
      </p:sp>
      <p:sp>
        <p:nvSpPr>
          <p:cNvPr id="20" name="TextBox 19"/>
          <p:cNvSpPr txBox="1"/>
          <p:nvPr/>
        </p:nvSpPr>
        <p:spPr>
          <a:xfrm>
            <a:off x="1261872" y="3456432"/>
            <a:ext cx="10241280" cy="301752"/>
          </a:xfrm>
          <a:prstGeom prst="rect">
            <a:avLst/>
          </a:prstGeom>
          <a:noFill/>
        </p:spPr>
        <p:txBody>
          <a:bodyPr wrap="square">
            <a:spAutoFit/>
          </a:bodyPr>
          <a:lstStyle/>
          <a:p>
            <a:pPr algn="l"/>
            <a:r>
              <a:rPr sz="1100" b="0" i="0">
                <a:solidFill>
                  <a:srgbClr val="555566"/>
                </a:solidFill>
              </a:rPr>
              <a:t>編集画面でステータスを「承認待ち」に変更し保存。コメントで@上長名 に確認依頼を送る</a:t>
            </a:r>
          </a:p>
        </p:txBody>
      </p:sp>
      <p:sp>
        <p:nvSpPr>
          <p:cNvPr id="21" name="Rectangle 20"/>
          <p:cNvSpPr/>
          <p:nvPr/>
        </p:nvSpPr>
        <p:spPr>
          <a:xfrm>
            <a:off x="457200" y="388620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014216"/>
            <a:ext cx="493776" cy="493776"/>
          </a:xfrm>
          <a:prstGeom prst="ellipse">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4</a:t>
            </a:r>
          </a:p>
        </p:txBody>
      </p:sp>
      <p:sp>
        <p:nvSpPr>
          <p:cNvPr id="23" name="TextBox 22"/>
          <p:cNvSpPr txBox="1"/>
          <p:nvPr/>
        </p:nvSpPr>
        <p:spPr>
          <a:xfrm>
            <a:off x="1261872" y="3950208"/>
            <a:ext cx="8686800" cy="310896"/>
          </a:xfrm>
          <a:prstGeom prst="rect">
            <a:avLst/>
          </a:prstGeom>
          <a:noFill/>
        </p:spPr>
        <p:txBody>
          <a:bodyPr wrap="square">
            <a:spAutoFit/>
          </a:bodyPr>
          <a:lstStyle/>
          <a:p>
            <a:pPr algn="l"/>
            <a:r>
              <a:rPr sz="1400" b="1" i="0">
                <a:solidFill>
                  <a:srgbClr val="1A1A2E"/>
                </a:solidFill>
              </a:rPr>
              <a:t>承認後、PDFを出力して顧客へ送付</a:t>
            </a:r>
          </a:p>
        </p:txBody>
      </p:sp>
      <p:sp>
        <p:nvSpPr>
          <p:cNvPr id="24" name="TextBox 23"/>
          <p:cNvSpPr txBox="1"/>
          <p:nvPr/>
        </p:nvSpPr>
        <p:spPr>
          <a:xfrm>
            <a:off x="1261872" y="4279392"/>
            <a:ext cx="10241280" cy="301752"/>
          </a:xfrm>
          <a:prstGeom prst="rect">
            <a:avLst/>
          </a:prstGeom>
          <a:noFill/>
        </p:spPr>
        <p:txBody>
          <a:bodyPr wrap="square">
            <a:spAutoFit/>
          </a:bodyPr>
          <a:lstStyle/>
          <a:p>
            <a:pPr algn="l"/>
            <a:r>
              <a:rPr sz="1100" b="0" i="0">
                <a:solidFill>
                  <a:srgbClr val="555566"/>
                </a:solidFill>
              </a:rPr>
              <a:t>詳細画面の「印刷/PDF出力」ボタンで請求書PDFを生成。メールまたは郵送で顧客へ送付</a:t>
            </a:r>
          </a:p>
        </p:txBody>
      </p:sp>
      <p:sp>
        <p:nvSpPr>
          <p:cNvPr id="25" name="Rectangle 24"/>
          <p:cNvSpPr/>
          <p:nvPr/>
        </p:nvSpPr>
        <p:spPr>
          <a:xfrm>
            <a:off x="457200" y="470916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1792" y="4837176"/>
            <a:ext cx="493776" cy="493776"/>
          </a:xfrm>
          <a:prstGeom prst="ellipse">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5</a:t>
            </a:r>
          </a:p>
        </p:txBody>
      </p:sp>
      <p:sp>
        <p:nvSpPr>
          <p:cNvPr id="27" name="TextBox 26"/>
          <p:cNvSpPr txBox="1"/>
          <p:nvPr/>
        </p:nvSpPr>
        <p:spPr>
          <a:xfrm>
            <a:off x="1261872" y="4773168"/>
            <a:ext cx="8686800" cy="310896"/>
          </a:xfrm>
          <a:prstGeom prst="rect">
            <a:avLst/>
          </a:prstGeom>
          <a:noFill/>
        </p:spPr>
        <p:txBody>
          <a:bodyPr wrap="square">
            <a:spAutoFit/>
          </a:bodyPr>
          <a:lstStyle/>
          <a:p>
            <a:pPr algn="l"/>
            <a:r>
              <a:rPr sz="1400" b="1" i="0">
                <a:solidFill>
                  <a:srgbClr val="1A1A2E"/>
                </a:solidFill>
              </a:rPr>
              <a:t>送付完了後にステータスを「送付済」に変更</a:t>
            </a:r>
          </a:p>
        </p:txBody>
      </p:sp>
      <p:sp>
        <p:nvSpPr>
          <p:cNvPr id="28" name="TextBox 27"/>
          <p:cNvSpPr txBox="1"/>
          <p:nvPr/>
        </p:nvSpPr>
        <p:spPr>
          <a:xfrm>
            <a:off x="1261872" y="5102352"/>
            <a:ext cx="10241280" cy="301752"/>
          </a:xfrm>
          <a:prstGeom prst="rect">
            <a:avLst/>
          </a:prstGeom>
          <a:noFill/>
        </p:spPr>
        <p:txBody>
          <a:bodyPr wrap="square">
            <a:spAutoFit/>
          </a:bodyPr>
          <a:lstStyle/>
          <a:p>
            <a:pPr algn="l"/>
            <a:r>
              <a:rPr sz="1100" b="0" i="0">
                <a:solidFill>
                  <a:srgbClr val="555566"/>
                </a:solidFill>
              </a:rPr>
              <a:t>送付日・送付方法を記録して保存。入金管理へ自動連携される</a:t>
            </a:r>
          </a:p>
        </p:txBody>
      </p:sp>
      <p:sp>
        <p:nvSpPr>
          <p:cNvPr id="29" name="Rectangle 28"/>
          <p:cNvSpPr/>
          <p:nvPr/>
        </p:nvSpPr>
        <p:spPr>
          <a:xfrm>
            <a:off x="457200" y="5715000"/>
            <a:ext cx="11274552" cy="475488"/>
          </a:xfrm>
          <a:prstGeom prst="rect">
            <a:avLst/>
          </a:prstGeom>
          <a:solidFill>
            <a:srgbClr val="FFF0F0"/>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806440"/>
            <a:ext cx="11064240" cy="320040"/>
          </a:xfrm>
          <a:prstGeom prst="rect">
            <a:avLst/>
          </a:prstGeom>
          <a:noFill/>
        </p:spPr>
        <p:txBody>
          <a:bodyPr wrap="square">
            <a:spAutoFit/>
          </a:bodyPr>
          <a:lstStyle/>
          <a:p>
            <a:pPr algn="l"/>
            <a:r>
              <a:rPr sz="1100" b="0" i="0">
                <a:solidFill>
                  <a:srgbClr val="CC0000"/>
                </a:solidFill>
              </a:rPr>
              <a:t>⚠ 注意：承認を経ずに請求書を送付しないでください。必ず承認ルートを経由してから送付すること。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0" y="4114800"/>
            <a:ext cx="2926080" cy="2286000"/>
          </a:xfrm>
          <a:prstGeom prst="rect">
            <a:avLst/>
          </a:prstGeom>
          <a:noFill/>
        </p:spPr>
        <p:txBody>
          <a:bodyPr wrap="square">
            <a:spAutoFit/>
          </a:bodyPr>
          <a:lstStyle/>
          <a:p>
            <a:pPr algn="r"/>
            <a:r>
              <a:rPr sz="11000" b="1" i="0">
                <a:solidFill>
                  <a:srgbClr val="1EA9A9"/>
                </a:solidFill>
              </a:rPr>
              <a:t>04</a:t>
            </a:r>
          </a:p>
        </p:txBody>
      </p:sp>
      <p:sp>
        <p:nvSpPr>
          <p:cNvPr id="4" name="TextBox 3"/>
          <p:cNvSpPr txBox="1"/>
          <p:nvPr/>
        </p:nvSpPr>
        <p:spPr>
          <a:xfrm>
            <a:off x="1097280" y="2194560"/>
            <a:ext cx="9601200" cy="1188720"/>
          </a:xfrm>
          <a:prstGeom prst="rect">
            <a:avLst/>
          </a:prstGeom>
          <a:noFill/>
        </p:spPr>
        <p:txBody>
          <a:bodyPr wrap="square">
            <a:spAutoFit/>
          </a:bodyPr>
          <a:lstStyle/>
          <a:p>
            <a:pPr algn="ctr"/>
            <a:r>
              <a:rPr sz="4600" b="1" i="0">
                <a:solidFill>
                  <a:srgbClr val="FFFFFF"/>
                </a:solidFill>
              </a:rPr>
              <a:t>入金管理</a:t>
            </a:r>
          </a:p>
        </p:txBody>
      </p:sp>
      <p:sp>
        <p:nvSpPr>
          <p:cNvPr id="5" name="TextBox 4"/>
          <p:cNvSpPr txBox="1"/>
          <p:nvPr/>
        </p:nvSpPr>
        <p:spPr>
          <a:xfrm>
            <a:off x="1097280" y="3429000"/>
            <a:ext cx="9601200" cy="594360"/>
          </a:xfrm>
          <a:prstGeom prst="rect">
            <a:avLst/>
          </a:prstGeom>
          <a:noFill/>
        </p:spPr>
        <p:txBody>
          <a:bodyPr wrap="square">
            <a:spAutoFit/>
          </a:bodyPr>
          <a:lstStyle/>
          <a:p>
            <a:pPr algn="ctr"/>
            <a:r>
              <a:rPr sz="1800" b="0" i="0">
                <a:solidFill>
                  <a:srgbClr val="FFFFFF"/>
                </a:solidFill>
              </a:rPr>
              <a:t>請求書の入金確認・消込を管理するアプリ</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入金管理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入金管理アプリの概要</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請求管理から連携されたデータをもとに入金を確認し、消込処理を行います</a:t>
            </a:r>
          </a:p>
        </p:txBody>
      </p:sp>
      <p:sp>
        <p:nvSpPr>
          <p:cNvPr id="9" name="Rectangle 8"/>
          <p:cNvSpPr/>
          <p:nvPr/>
        </p:nvSpPr>
        <p:spPr>
          <a:xfrm>
            <a:off x="457200" y="1417320"/>
            <a:ext cx="539496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27048"/>
            <a:ext cx="5120640" cy="292608"/>
          </a:xfrm>
          <a:prstGeom prst="rect">
            <a:avLst/>
          </a:prstGeom>
          <a:noFill/>
        </p:spPr>
        <p:txBody>
          <a:bodyPr wrap="square">
            <a:spAutoFit/>
          </a:bodyPr>
          <a:lstStyle/>
          <a:p>
            <a:pPr algn="l"/>
            <a:r>
              <a:rPr sz="1300" b="1" i="0">
                <a:solidFill>
                  <a:srgbClr val="008B8B"/>
                </a:solidFill>
              </a:rPr>
              <a:t>💰 主なフィールド</a:t>
            </a:r>
          </a:p>
        </p:txBody>
      </p:sp>
      <p:sp>
        <p:nvSpPr>
          <p:cNvPr id="11" name="TextBox 10"/>
          <p:cNvSpPr txBox="1"/>
          <p:nvPr/>
        </p:nvSpPr>
        <p:spPr>
          <a:xfrm>
            <a:off x="640080" y="1892808"/>
            <a:ext cx="5029200" cy="274320"/>
          </a:xfrm>
          <a:prstGeom prst="rect">
            <a:avLst/>
          </a:prstGeom>
          <a:noFill/>
        </p:spPr>
        <p:txBody>
          <a:bodyPr wrap="square">
            <a:spAutoFit/>
          </a:bodyPr>
          <a:lstStyle/>
          <a:p>
            <a:pPr algn="l"/>
            <a:r>
              <a:rPr sz="1100" b="0" i="0">
                <a:solidFill>
                  <a:srgbClr val="1A1A2E"/>
                </a:solidFill>
              </a:rPr>
              <a:t>▸ 入金管理番号（自動採番）</a:t>
            </a:r>
          </a:p>
        </p:txBody>
      </p:sp>
      <p:sp>
        <p:nvSpPr>
          <p:cNvPr id="12" name="TextBox 11"/>
          <p:cNvSpPr txBox="1"/>
          <p:nvPr/>
        </p:nvSpPr>
        <p:spPr>
          <a:xfrm>
            <a:off x="640080" y="2167128"/>
            <a:ext cx="5029200" cy="274320"/>
          </a:xfrm>
          <a:prstGeom prst="rect">
            <a:avLst/>
          </a:prstGeom>
          <a:noFill/>
        </p:spPr>
        <p:txBody>
          <a:bodyPr wrap="square">
            <a:spAutoFit/>
          </a:bodyPr>
          <a:lstStyle/>
          <a:p>
            <a:pPr algn="l"/>
            <a:r>
              <a:rPr sz="1100" b="0" i="0">
                <a:solidFill>
                  <a:srgbClr val="1A1A2E"/>
                </a:solidFill>
              </a:rPr>
              <a:t>▸ 連携請求番号</a:t>
            </a:r>
          </a:p>
        </p:txBody>
      </p:sp>
      <p:sp>
        <p:nvSpPr>
          <p:cNvPr id="13" name="TextBox 12"/>
          <p:cNvSpPr txBox="1"/>
          <p:nvPr/>
        </p:nvSpPr>
        <p:spPr>
          <a:xfrm>
            <a:off x="640080" y="2441448"/>
            <a:ext cx="5029200" cy="274320"/>
          </a:xfrm>
          <a:prstGeom prst="rect">
            <a:avLst/>
          </a:prstGeom>
          <a:noFill/>
        </p:spPr>
        <p:txBody>
          <a:bodyPr wrap="square">
            <a:spAutoFit/>
          </a:bodyPr>
          <a:lstStyle/>
          <a:p>
            <a:pPr algn="l"/>
            <a:r>
              <a:rPr sz="1100" b="0" i="0">
                <a:solidFill>
                  <a:srgbClr val="1A1A2E"/>
                </a:solidFill>
              </a:rPr>
              <a:t>▸ 得意先名・入金予定日</a:t>
            </a:r>
          </a:p>
        </p:txBody>
      </p:sp>
      <p:sp>
        <p:nvSpPr>
          <p:cNvPr id="14" name="TextBox 13"/>
          <p:cNvSpPr txBox="1"/>
          <p:nvPr/>
        </p:nvSpPr>
        <p:spPr>
          <a:xfrm>
            <a:off x="640080" y="2715768"/>
            <a:ext cx="5029200" cy="274320"/>
          </a:xfrm>
          <a:prstGeom prst="rect">
            <a:avLst/>
          </a:prstGeom>
          <a:noFill/>
        </p:spPr>
        <p:txBody>
          <a:bodyPr wrap="square">
            <a:spAutoFit/>
          </a:bodyPr>
          <a:lstStyle/>
          <a:p>
            <a:pPr algn="l"/>
            <a:r>
              <a:rPr sz="1100" b="0" i="0">
                <a:solidFill>
                  <a:srgbClr val="1A1A2E"/>
                </a:solidFill>
              </a:rPr>
              <a:t>▸ 請求金額・入金金額・差額</a:t>
            </a:r>
          </a:p>
        </p:txBody>
      </p:sp>
      <p:sp>
        <p:nvSpPr>
          <p:cNvPr id="15" name="TextBox 14"/>
          <p:cNvSpPr txBox="1"/>
          <p:nvPr/>
        </p:nvSpPr>
        <p:spPr>
          <a:xfrm>
            <a:off x="640080" y="2990088"/>
            <a:ext cx="5029200" cy="274320"/>
          </a:xfrm>
          <a:prstGeom prst="rect">
            <a:avLst/>
          </a:prstGeom>
          <a:noFill/>
        </p:spPr>
        <p:txBody>
          <a:bodyPr wrap="square">
            <a:spAutoFit/>
          </a:bodyPr>
          <a:lstStyle/>
          <a:p>
            <a:pPr algn="l"/>
            <a:r>
              <a:rPr sz="1100" b="0" i="0">
                <a:solidFill>
                  <a:srgbClr val="1A1A2E"/>
                </a:solidFill>
              </a:rPr>
              <a:t>▸ 入金方法（銀行振込/手形/相殺）</a:t>
            </a:r>
          </a:p>
        </p:txBody>
      </p:sp>
      <p:sp>
        <p:nvSpPr>
          <p:cNvPr id="16" name="TextBox 15"/>
          <p:cNvSpPr txBox="1"/>
          <p:nvPr/>
        </p:nvSpPr>
        <p:spPr>
          <a:xfrm>
            <a:off x="640080" y="3264408"/>
            <a:ext cx="5029200" cy="274320"/>
          </a:xfrm>
          <a:prstGeom prst="rect">
            <a:avLst/>
          </a:prstGeom>
          <a:noFill/>
        </p:spPr>
        <p:txBody>
          <a:bodyPr wrap="square">
            <a:spAutoFit/>
          </a:bodyPr>
          <a:lstStyle/>
          <a:p>
            <a:pPr algn="l"/>
            <a:r>
              <a:rPr sz="1100" b="0" i="0">
                <a:solidFill>
                  <a:srgbClr val="1A1A2E"/>
                </a:solidFill>
              </a:rPr>
              <a:t>▸ ステータス（入金待ち/一部入金/入金済/完了）</a:t>
            </a:r>
          </a:p>
        </p:txBody>
      </p:sp>
      <p:sp>
        <p:nvSpPr>
          <p:cNvPr id="17" name="Rectangle 16"/>
          <p:cNvSpPr/>
          <p:nvPr/>
        </p:nvSpPr>
        <p:spPr>
          <a:xfrm>
            <a:off x="6035040" y="1417320"/>
            <a:ext cx="539496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527048"/>
            <a:ext cx="5120640" cy="292608"/>
          </a:xfrm>
          <a:prstGeom prst="rect">
            <a:avLst/>
          </a:prstGeom>
          <a:noFill/>
        </p:spPr>
        <p:txBody>
          <a:bodyPr wrap="square">
            <a:spAutoFit/>
          </a:bodyPr>
          <a:lstStyle/>
          <a:p>
            <a:pPr algn="l"/>
            <a:r>
              <a:rPr sz="1300" b="1" i="0">
                <a:solidFill>
                  <a:srgbClr val="008B8B"/>
                </a:solidFill>
              </a:rPr>
              <a:t>🔄 ステータスの流れ</a:t>
            </a:r>
          </a:p>
        </p:txBody>
      </p:sp>
      <p:sp>
        <p:nvSpPr>
          <p:cNvPr id="19" name="TextBox 18"/>
          <p:cNvSpPr txBox="1"/>
          <p:nvPr/>
        </p:nvSpPr>
        <p:spPr>
          <a:xfrm>
            <a:off x="6217920" y="1892808"/>
            <a:ext cx="5029200" cy="274320"/>
          </a:xfrm>
          <a:prstGeom prst="rect">
            <a:avLst/>
          </a:prstGeom>
          <a:noFill/>
        </p:spPr>
        <p:txBody>
          <a:bodyPr wrap="square">
            <a:spAutoFit/>
          </a:bodyPr>
          <a:lstStyle/>
          <a:p>
            <a:pPr algn="l"/>
            <a:r>
              <a:rPr sz="1100" b="0" i="0">
                <a:solidFill>
                  <a:srgbClr val="1A1A2E"/>
                </a:solidFill>
              </a:rPr>
              <a:t>▸ ① 入金待ち　→　請求送付後・入金前</a:t>
            </a:r>
          </a:p>
        </p:txBody>
      </p:sp>
      <p:sp>
        <p:nvSpPr>
          <p:cNvPr id="20" name="TextBox 19"/>
          <p:cNvSpPr txBox="1"/>
          <p:nvPr/>
        </p:nvSpPr>
        <p:spPr>
          <a:xfrm>
            <a:off x="6217920" y="2167128"/>
            <a:ext cx="5029200" cy="274320"/>
          </a:xfrm>
          <a:prstGeom prst="rect">
            <a:avLst/>
          </a:prstGeom>
          <a:noFill/>
        </p:spPr>
        <p:txBody>
          <a:bodyPr wrap="square">
            <a:spAutoFit/>
          </a:bodyPr>
          <a:lstStyle/>
          <a:p>
            <a:pPr algn="l"/>
            <a:r>
              <a:rPr sz="1100" b="0" i="0">
                <a:solidFill>
                  <a:srgbClr val="1A1A2E"/>
                </a:solidFill>
              </a:rPr>
              <a:t>▸ ② 一部入金　→　分割払い等で一部受領</a:t>
            </a:r>
          </a:p>
        </p:txBody>
      </p:sp>
      <p:sp>
        <p:nvSpPr>
          <p:cNvPr id="21" name="TextBox 20"/>
          <p:cNvSpPr txBox="1"/>
          <p:nvPr/>
        </p:nvSpPr>
        <p:spPr>
          <a:xfrm>
            <a:off x="6217920" y="2441448"/>
            <a:ext cx="5029200" cy="274320"/>
          </a:xfrm>
          <a:prstGeom prst="rect">
            <a:avLst/>
          </a:prstGeom>
          <a:noFill/>
        </p:spPr>
        <p:txBody>
          <a:bodyPr wrap="square">
            <a:spAutoFit/>
          </a:bodyPr>
          <a:lstStyle/>
          <a:p>
            <a:pPr algn="l"/>
            <a:r>
              <a:rPr sz="1100" b="0" i="0">
                <a:solidFill>
                  <a:srgbClr val="1A1A2E"/>
                </a:solidFill>
              </a:rPr>
              <a:t>▸ ③ 入金済　→　全額入金確認完了</a:t>
            </a:r>
          </a:p>
        </p:txBody>
      </p:sp>
      <p:sp>
        <p:nvSpPr>
          <p:cNvPr id="22" name="TextBox 21"/>
          <p:cNvSpPr txBox="1"/>
          <p:nvPr/>
        </p:nvSpPr>
        <p:spPr>
          <a:xfrm>
            <a:off x="6217920" y="2715768"/>
            <a:ext cx="5029200" cy="274320"/>
          </a:xfrm>
          <a:prstGeom prst="rect">
            <a:avLst/>
          </a:prstGeom>
          <a:noFill/>
        </p:spPr>
        <p:txBody>
          <a:bodyPr wrap="square">
            <a:spAutoFit/>
          </a:bodyPr>
          <a:lstStyle/>
          <a:p>
            <a:pPr algn="l"/>
            <a:r>
              <a:rPr sz="1100" b="0" i="0">
                <a:solidFill>
                  <a:srgbClr val="1A1A2E"/>
                </a:solidFill>
              </a:rPr>
              <a:t>▸ ④ 差額対応中　→　短額・過払い発生時</a:t>
            </a:r>
          </a:p>
        </p:txBody>
      </p:sp>
      <p:sp>
        <p:nvSpPr>
          <p:cNvPr id="23" name="TextBox 22"/>
          <p:cNvSpPr txBox="1"/>
          <p:nvPr/>
        </p:nvSpPr>
        <p:spPr>
          <a:xfrm>
            <a:off x="6217920" y="2990088"/>
            <a:ext cx="5029200" cy="274320"/>
          </a:xfrm>
          <a:prstGeom prst="rect">
            <a:avLst/>
          </a:prstGeom>
          <a:noFill/>
        </p:spPr>
        <p:txBody>
          <a:bodyPr wrap="square">
            <a:spAutoFit/>
          </a:bodyPr>
          <a:lstStyle/>
          <a:p>
            <a:pPr algn="l"/>
            <a:r>
              <a:rPr sz="1100" b="0" i="0">
                <a:solidFill>
                  <a:srgbClr val="1A1A2E"/>
                </a:solidFill>
              </a:rPr>
              <a:t>▸ ⑤ 完了　→　消込処理が終了した状態</a:t>
            </a:r>
          </a:p>
        </p:txBody>
      </p:sp>
      <p:sp>
        <p:nvSpPr>
          <p:cNvPr id="24" name="Rectangle 23"/>
          <p:cNvSpPr/>
          <p:nvPr/>
        </p:nvSpPr>
        <p:spPr>
          <a:xfrm>
            <a:off x="457200" y="3977639"/>
            <a:ext cx="2377440" cy="38404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入金待ち</a:t>
            </a:r>
          </a:p>
        </p:txBody>
      </p:sp>
      <p:sp>
        <p:nvSpPr>
          <p:cNvPr id="25" name="Can 24"/>
          <p:cNvSpPr/>
          <p:nvPr/>
        </p:nvSpPr>
        <p:spPr>
          <a:xfrm>
            <a:off x="2880360" y="4005072"/>
            <a:ext cx="338328"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73552" y="3977639"/>
            <a:ext cx="2377440" cy="3840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一部入金</a:t>
            </a:r>
          </a:p>
        </p:txBody>
      </p:sp>
      <p:sp>
        <p:nvSpPr>
          <p:cNvPr id="27" name="Can 26"/>
          <p:cNvSpPr/>
          <p:nvPr/>
        </p:nvSpPr>
        <p:spPr>
          <a:xfrm>
            <a:off x="5696712" y="4005072"/>
            <a:ext cx="338328"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89904" y="3977639"/>
            <a:ext cx="2377440" cy="38404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入金済</a:t>
            </a:r>
          </a:p>
        </p:txBody>
      </p:sp>
      <p:sp>
        <p:nvSpPr>
          <p:cNvPr id="29" name="Can 28"/>
          <p:cNvSpPr/>
          <p:nvPr/>
        </p:nvSpPr>
        <p:spPr>
          <a:xfrm>
            <a:off x="8513064" y="4005072"/>
            <a:ext cx="338328" cy="329184"/>
          </a:xfrm>
          <a:prstGeom prst="can">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06256" y="3977639"/>
            <a:ext cx="2377440" cy="384048"/>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完了</a:t>
            </a:r>
          </a:p>
        </p:txBody>
      </p:sp>
      <p:sp>
        <p:nvSpPr>
          <p:cNvPr id="31" name="Rectangle 30"/>
          <p:cNvSpPr/>
          <p:nvPr/>
        </p:nvSpPr>
        <p:spPr>
          <a:xfrm>
            <a:off x="457200" y="4526280"/>
            <a:ext cx="11274552" cy="566928"/>
          </a:xfrm>
          <a:prstGeom prst="rect">
            <a:avLst/>
          </a:prstGeom>
          <a:solidFill>
            <a:srgbClr val="E0F5F5"/>
          </a:solidFill>
          <a:ln w="2540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572000"/>
            <a:ext cx="10972800" cy="237744"/>
          </a:xfrm>
          <a:prstGeom prst="rect">
            <a:avLst/>
          </a:prstGeom>
          <a:noFill/>
        </p:spPr>
        <p:txBody>
          <a:bodyPr wrap="square">
            <a:spAutoFit/>
          </a:bodyPr>
          <a:lstStyle/>
          <a:p>
            <a:pPr algn="l"/>
            <a:r>
              <a:rPr sz="1100" b="1" i="0">
                <a:solidFill>
                  <a:srgbClr val="008B8B"/>
                </a:solidFill>
              </a:rPr>
              <a:t>💡 消込とは？</a:t>
            </a:r>
          </a:p>
        </p:txBody>
      </p:sp>
      <p:sp>
        <p:nvSpPr>
          <p:cNvPr id="33" name="TextBox 32"/>
          <p:cNvSpPr txBox="1"/>
          <p:nvPr/>
        </p:nvSpPr>
        <p:spPr>
          <a:xfrm>
            <a:off x="621792" y="4828032"/>
            <a:ext cx="10972800" cy="237744"/>
          </a:xfrm>
          <a:prstGeom prst="rect">
            <a:avLst/>
          </a:prstGeom>
          <a:noFill/>
        </p:spPr>
        <p:txBody>
          <a:bodyPr wrap="square">
            <a:spAutoFit/>
          </a:bodyPr>
          <a:lstStyle/>
          <a:p>
            <a:pPr algn="l"/>
            <a:r>
              <a:rPr sz="1100" b="0" i="0">
                <a:solidFill>
                  <a:srgbClr val="1A1A2E"/>
                </a:solidFill>
              </a:rPr>
              <a:t>請求金額と入金金額を照合して一致を確認する処理です。差額がある場合は差額対応中に変更してください</a:t>
            </a:r>
          </a:p>
        </p:txBody>
      </p:sp>
      <p:sp>
        <p:nvSpPr>
          <p:cNvPr id="34" name="Rectangle 33"/>
          <p:cNvSpPr/>
          <p:nvPr/>
        </p:nvSpPr>
        <p:spPr>
          <a:xfrm>
            <a:off x="457200" y="5230368"/>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5321808"/>
            <a:ext cx="11064240" cy="320040"/>
          </a:xfrm>
          <a:prstGeom prst="rect">
            <a:avLst/>
          </a:prstGeom>
          <a:noFill/>
        </p:spPr>
        <p:txBody>
          <a:bodyPr wrap="square">
            <a:spAutoFit/>
          </a:bodyPr>
          <a:lstStyle/>
          <a:p>
            <a:pPr algn="l"/>
            <a:r>
              <a:rPr sz="1100" b="0" i="0">
                <a:solidFill>
                  <a:srgbClr val="554400"/>
                </a:solidFill>
              </a:rPr>
              <a:t>💡 ヒント：毎日入金管理の「入金待ち」ビューを確認し、入金予定日を過ぎたものはすぐに得意先へ確認連絡をしましょう。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入金管理</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入金確認・消込の手順</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銀行通帳や入金メールと照合しながら消込処理を行います</a:t>
            </a:r>
          </a:p>
        </p:txBody>
      </p:sp>
      <p:sp>
        <p:nvSpPr>
          <p:cNvPr id="9" name="Rectangle 8"/>
          <p:cNvSpPr/>
          <p:nvPr/>
        </p:nvSpPr>
        <p:spPr>
          <a:xfrm>
            <a:off x="457200" y="141732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545336"/>
            <a:ext cx="493776" cy="493776"/>
          </a:xfrm>
          <a:prstGeom prst="ellipse">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11" name="TextBox 10"/>
          <p:cNvSpPr txBox="1"/>
          <p:nvPr/>
        </p:nvSpPr>
        <p:spPr>
          <a:xfrm>
            <a:off x="1261872" y="1481328"/>
            <a:ext cx="8686800" cy="310896"/>
          </a:xfrm>
          <a:prstGeom prst="rect">
            <a:avLst/>
          </a:prstGeom>
          <a:noFill/>
        </p:spPr>
        <p:txBody>
          <a:bodyPr wrap="square">
            <a:spAutoFit/>
          </a:bodyPr>
          <a:lstStyle/>
          <a:p>
            <a:pPr algn="l"/>
            <a:r>
              <a:rPr sz="1400" b="1" i="0">
                <a:solidFill>
                  <a:srgbClr val="1A1A2E"/>
                </a:solidFill>
              </a:rPr>
              <a:t>入金管理アプリを開く</a:t>
            </a:r>
          </a:p>
        </p:txBody>
      </p:sp>
      <p:sp>
        <p:nvSpPr>
          <p:cNvPr id="12" name="TextBox 11"/>
          <p:cNvSpPr txBox="1"/>
          <p:nvPr/>
        </p:nvSpPr>
        <p:spPr>
          <a:xfrm>
            <a:off x="1261872" y="1810512"/>
            <a:ext cx="10241280" cy="301752"/>
          </a:xfrm>
          <a:prstGeom prst="rect">
            <a:avLst/>
          </a:prstGeom>
          <a:noFill/>
        </p:spPr>
        <p:txBody>
          <a:bodyPr wrap="square">
            <a:spAutoFit/>
          </a:bodyPr>
          <a:lstStyle/>
          <a:p>
            <a:pPr algn="l"/>
            <a:r>
              <a:rPr sz="1100" b="0" i="0">
                <a:solidFill>
                  <a:srgbClr val="555566"/>
                </a:solidFill>
              </a:rPr>
              <a:t>上部メニュー「入金管理」をクリック。「入金待ち」ビューで未処理の請求を確認する</a:t>
            </a:r>
          </a:p>
        </p:txBody>
      </p:sp>
      <p:sp>
        <p:nvSpPr>
          <p:cNvPr id="13" name="Rectangle 12"/>
          <p:cNvSpPr/>
          <p:nvPr/>
        </p:nvSpPr>
        <p:spPr>
          <a:xfrm>
            <a:off x="457200" y="224028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2368296"/>
            <a:ext cx="493776" cy="493776"/>
          </a:xfrm>
          <a:prstGeom prst="ellipse">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15" name="TextBox 14"/>
          <p:cNvSpPr txBox="1"/>
          <p:nvPr/>
        </p:nvSpPr>
        <p:spPr>
          <a:xfrm>
            <a:off x="1261872" y="2304288"/>
            <a:ext cx="8686800" cy="310896"/>
          </a:xfrm>
          <a:prstGeom prst="rect">
            <a:avLst/>
          </a:prstGeom>
          <a:noFill/>
        </p:spPr>
        <p:txBody>
          <a:bodyPr wrap="square">
            <a:spAutoFit/>
          </a:bodyPr>
          <a:lstStyle/>
          <a:p>
            <a:pPr algn="l"/>
            <a:r>
              <a:rPr sz="1400" b="1" i="0">
                <a:solidFill>
                  <a:srgbClr val="1A1A2E"/>
                </a:solidFill>
              </a:rPr>
              <a:t>銀行振込・通帳と照合する</a:t>
            </a:r>
          </a:p>
        </p:txBody>
      </p:sp>
      <p:sp>
        <p:nvSpPr>
          <p:cNvPr id="16" name="TextBox 15"/>
          <p:cNvSpPr txBox="1"/>
          <p:nvPr/>
        </p:nvSpPr>
        <p:spPr>
          <a:xfrm>
            <a:off x="1261872" y="2633472"/>
            <a:ext cx="10241280" cy="301752"/>
          </a:xfrm>
          <a:prstGeom prst="rect">
            <a:avLst/>
          </a:prstGeom>
          <a:noFill/>
        </p:spPr>
        <p:txBody>
          <a:bodyPr wrap="square">
            <a:spAutoFit/>
          </a:bodyPr>
          <a:lstStyle/>
          <a:p>
            <a:pPr algn="l"/>
            <a:r>
              <a:rPr sz="1100" b="0" i="0">
                <a:solidFill>
                  <a:srgbClr val="555566"/>
                </a:solidFill>
              </a:rPr>
              <a:t>入金予定日・金額が一致しているか銀行通帳またはインターネットバンキングで確認</a:t>
            </a:r>
          </a:p>
        </p:txBody>
      </p:sp>
      <p:sp>
        <p:nvSpPr>
          <p:cNvPr id="17" name="Rectangle 16"/>
          <p:cNvSpPr/>
          <p:nvPr/>
        </p:nvSpPr>
        <p:spPr>
          <a:xfrm>
            <a:off x="457200" y="306324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91256"/>
            <a:ext cx="493776" cy="493776"/>
          </a:xfrm>
          <a:prstGeom prst="ellipse">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19" name="TextBox 18"/>
          <p:cNvSpPr txBox="1"/>
          <p:nvPr/>
        </p:nvSpPr>
        <p:spPr>
          <a:xfrm>
            <a:off x="1261872" y="3127248"/>
            <a:ext cx="8686800" cy="310896"/>
          </a:xfrm>
          <a:prstGeom prst="rect">
            <a:avLst/>
          </a:prstGeom>
          <a:noFill/>
        </p:spPr>
        <p:txBody>
          <a:bodyPr wrap="square">
            <a:spAutoFit/>
          </a:bodyPr>
          <a:lstStyle/>
          <a:p>
            <a:pPr algn="l"/>
            <a:r>
              <a:rPr sz="1400" b="1" i="0">
                <a:solidFill>
                  <a:srgbClr val="1A1A2E"/>
                </a:solidFill>
              </a:rPr>
              <a:t>入金金額を入力してステータスを「入金済」に変更</a:t>
            </a:r>
          </a:p>
        </p:txBody>
      </p:sp>
      <p:sp>
        <p:nvSpPr>
          <p:cNvPr id="20" name="TextBox 19"/>
          <p:cNvSpPr txBox="1"/>
          <p:nvPr/>
        </p:nvSpPr>
        <p:spPr>
          <a:xfrm>
            <a:off x="1261872" y="3456432"/>
            <a:ext cx="10241280" cy="301752"/>
          </a:xfrm>
          <a:prstGeom prst="rect">
            <a:avLst/>
          </a:prstGeom>
          <a:noFill/>
        </p:spPr>
        <p:txBody>
          <a:bodyPr wrap="square">
            <a:spAutoFit/>
          </a:bodyPr>
          <a:lstStyle/>
          <a:p>
            <a:pPr algn="l"/>
            <a:r>
              <a:rPr sz="1100" b="0" i="0">
                <a:solidFill>
                  <a:srgbClr val="555566"/>
                </a:solidFill>
              </a:rPr>
              <a:t>入金日・入金金額・入金方法を入力。全額入金の場合は「入金済」に変更して保存</a:t>
            </a:r>
          </a:p>
        </p:txBody>
      </p:sp>
      <p:sp>
        <p:nvSpPr>
          <p:cNvPr id="21" name="Rectangle 20"/>
          <p:cNvSpPr/>
          <p:nvPr/>
        </p:nvSpPr>
        <p:spPr>
          <a:xfrm>
            <a:off x="457200" y="388620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014216"/>
            <a:ext cx="493776" cy="493776"/>
          </a:xfrm>
          <a:prstGeom prst="ellipse">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4</a:t>
            </a:r>
          </a:p>
        </p:txBody>
      </p:sp>
      <p:sp>
        <p:nvSpPr>
          <p:cNvPr id="23" name="TextBox 22"/>
          <p:cNvSpPr txBox="1"/>
          <p:nvPr/>
        </p:nvSpPr>
        <p:spPr>
          <a:xfrm>
            <a:off x="1261872" y="3950208"/>
            <a:ext cx="8686800" cy="310896"/>
          </a:xfrm>
          <a:prstGeom prst="rect">
            <a:avLst/>
          </a:prstGeom>
          <a:noFill/>
        </p:spPr>
        <p:txBody>
          <a:bodyPr wrap="square">
            <a:spAutoFit/>
          </a:bodyPr>
          <a:lstStyle/>
          <a:p>
            <a:pPr algn="l"/>
            <a:r>
              <a:rPr sz="1400" b="1" i="0">
                <a:solidFill>
                  <a:srgbClr val="1A1A2E"/>
                </a:solidFill>
              </a:rPr>
              <a:t>差額がある場合は「差額対応中」に変更し備考に記録</a:t>
            </a:r>
          </a:p>
        </p:txBody>
      </p:sp>
      <p:sp>
        <p:nvSpPr>
          <p:cNvPr id="24" name="TextBox 23"/>
          <p:cNvSpPr txBox="1"/>
          <p:nvPr/>
        </p:nvSpPr>
        <p:spPr>
          <a:xfrm>
            <a:off x="1261872" y="4279392"/>
            <a:ext cx="10241280" cy="301752"/>
          </a:xfrm>
          <a:prstGeom prst="rect">
            <a:avLst/>
          </a:prstGeom>
          <a:noFill/>
        </p:spPr>
        <p:txBody>
          <a:bodyPr wrap="square">
            <a:spAutoFit/>
          </a:bodyPr>
          <a:lstStyle/>
          <a:p>
            <a:pPr algn="l"/>
            <a:r>
              <a:rPr sz="1100" b="0" i="0">
                <a:solidFill>
                  <a:srgbClr val="555566"/>
                </a:solidFill>
              </a:rPr>
              <a:t>請求額と入金額の差額・理由を備考欄に記入。経理担当者に@メンションで報告する</a:t>
            </a:r>
          </a:p>
        </p:txBody>
      </p:sp>
      <p:sp>
        <p:nvSpPr>
          <p:cNvPr id="25" name="Rectangle 24"/>
          <p:cNvSpPr/>
          <p:nvPr/>
        </p:nvSpPr>
        <p:spPr>
          <a:xfrm>
            <a:off x="457200" y="4709160"/>
            <a:ext cx="11274552" cy="74980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1792" y="4837176"/>
            <a:ext cx="493776" cy="493776"/>
          </a:xfrm>
          <a:prstGeom prst="ellipse">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5</a:t>
            </a:r>
          </a:p>
        </p:txBody>
      </p:sp>
      <p:sp>
        <p:nvSpPr>
          <p:cNvPr id="27" name="TextBox 26"/>
          <p:cNvSpPr txBox="1"/>
          <p:nvPr/>
        </p:nvSpPr>
        <p:spPr>
          <a:xfrm>
            <a:off x="1261872" y="4773168"/>
            <a:ext cx="8686800" cy="310896"/>
          </a:xfrm>
          <a:prstGeom prst="rect">
            <a:avLst/>
          </a:prstGeom>
          <a:noFill/>
        </p:spPr>
        <p:txBody>
          <a:bodyPr wrap="square">
            <a:spAutoFit/>
          </a:bodyPr>
          <a:lstStyle/>
          <a:p>
            <a:pPr algn="l"/>
            <a:r>
              <a:rPr sz="1400" b="1" i="0">
                <a:solidFill>
                  <a:srgbClr val="1A1A2E"/>
                </a:solidFill>
              </a:rPr>
              <a:t>消込確認後にステータスを「完了」に変更</a:t>
            </a:r>
          </a:p>
        </p:txBody>
      </p:sp>
      <p:sp>
        <p:nvSpPr>
          <p:cNvPr id="28" name="TextBox 27"/>
          <p:cNvSpPr txBox="1"/>
          <p:nvPr/>
        </p:nvSpPr>
        <p:spPr>
          <a:xfrm>
            <a:off x="1261872" y="5102352"/>
            <a:ext cx="10241280" cy="301752"/>
          </a:xfrm>
          <a:prstGeom prst="rect">
            <a:avLst/>
          </a:prstGeom>
          <a:noFill/>
        </p:spPr>
        <p:txBody>
          <a:bodyPr wrap="square">
            <a:spAutoFit/>
          </a:bodyPr>
          <a:lstStyle/>
          <a:p>
            <a:pPr algn="l"/>
            <a:r>
              <a:rPr sz="1100" b="0" i="0">
                <a:solidFill>
                  <a:srgbClr val="555566"/>
                </a:solidFill>
              </a:rPr>
              <a:t>経理担当が確認後に「完了」に変更。これにより請求管理側も「完了」に更新される</a:t>
            </a:r>
          </a:p>
        </p:txBody>
      </p:sp>
      <p:sp>
        <p:nvSpPr>
          <p:cNvPr id="29" name="Rectangle 28"/>
          <p:cNvSpPr/>
          <p:nvPr/>
        </p:nvSpPr>
        <p:spPr>
          <a:xfrm>
            <a:off x="457200" y="5715000"/>
            <a:ext cx="11274552" cy="475488"/>
          </a:xfrm>
          <a:prstGeom prst="rect">
            <a:avLst/>
          </a:prstGeom>
          <a:solidFill>
            <a:srgbClr val="FFF0F0"/>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806440"/>
            <a:ext cx="11064240" cy="320040"/>
          </a:xfrm>
          <a:prstGeom prst="rect">
            <a:avLst/>
          </a:prstGeom>
          <a:noFill/>
        </p:spPr>
        <p:txBody>
          <a:bodyPr wrap="square">
            <a:spAutoFit/>
          </a:bodyPr>
          <a:lstStyle/>
          <a:p>
            <a:pPr algn="l"/>
            <a:r>
              <a:rPr sz="1100" b="0" i="0">
                <a:solidFill>
                  <a:srgbClr val="CC0000"/>
                </a:solidFill>
              </a:rPr>
              <a:t>⚠ 注意：入金金額が請求額と異なる場合は必ず経理担当者に報告してください。独断で「完了」にしないこと。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全体フロー</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受注〜入金完了 詳細フロー</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4つのアプリにまたがる業務の全体像と、アプリ間の連携タイミングを示します</a:t>
            </a:r>
          </a:p>
        </p:txBody>
      </p:sp>
      <p:sp>
        <p:nvSpPr>
          <p:cNvPr id="9" name="Rectangle 8"/>
          <p:cNvSpPr/>
          <p:nvPr/>
        </p:nvSpPr>
        <p:spPr>
          <a:xfrm>
            <a:off x="2286000" y="1417320"/>
            <a:ext cx="1572768"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STEP 1</a:t>
            </a:r>
          </a:p>
        </p:txBody>
      </p:sp>
      <p:sp>
        <p:nvSpPr>
          <p:cNvPr id="10" name="Rectangle 9"/>
          <p:cNvSpPr/>
          <p:nvPr/>
        </p:nvSpPr>
        <p:spPr>
          <a:xfrm>
            <a:off x="3913632" y="1417320"/>
            <a:ext cx="1572768"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STEP 2</a:t>
            </a:r>
          </a:p>
        </p:txBody>
      </p:sp>
      <p:sp>
        <p:nvSpPr>
          <p:cNvPr id="11" name="Rectangle 10"/>
          <p:cNvSpPr/>
          <p:nvPr/>
        </p:nvSpPr>
        <p:spPr>
          <a:xfrm>
            <a:off x="5541264" y="1417320"/>
            <a:ext cx="1572768"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STEP 3</a:t>
            </a:r>
          </a:p>
        </p:txBody>
      </p:sp>
      <p:sp>
        <p:nvSpPr>
          <p:cNvPr id="12" name="Rectangle 11"/>
          <p:cNvSpPr/>
          <p:nvPr/>
        </p:nvSpPr>
        <p:spPr>
          <a:xfrm>
            <a:off x="7168896" y="1417320"/>
            <a:ext cx="1572768"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STEP 4</a:t>
            </a:r>
          </a:p>
        </p:txBody>
      </p:sp>
      <p:sp>
        <p:nvSpPr>
          <p:cNvPr id="13" name="Rectangle 12"/>
          <p:cNvSpPr/>
          <p:nvPr/>
        </p:nvSpPr>
        <p:spPr>
          <a:xfrm>
            <a:off x="8796528" y="1417320"/>
            <a:ext cx="1572768"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STEP 5</a:t>
            </a:r>
          </a:p>
        </p:txBody>
      </p:sp>
      <p:sp>
        <p:nvSpPr>
          <p:cNvPr id="14" name="Rectangle 13"/>
          <p:cNvSpPr/>
          <p:nvPr/>
        </p:nvSpPr>
        <p:spPr>
          <a:xfrm>
            <a:off x="10424160" y="1417320"/>
            <a:ext cx="1572768"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STEP 6</a:t>
            </a:r>
          </a:p>
        </p:txBody>
      </p:sp>
      <p:sp>
        <p:nvSpPr>
          <p:cNvPr id="15" name="Rectangle 14"/>
          <p:cNvSpPr/>
          <p:nvPr/>
        </p:nvSpPr>
        <p:spPr>
          <a:xfrm>
            <a:off x="274320" y="1783080"/>
            <a:ext cx="1920240" cy="932688"/>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受注管理</a:t>
            </a:r>
          </a:p>
        </p:txBody>
      </p:sp>
      <p:sp>
        <p:nvSpPr>
          <p:cNvPr id="16" name="Rectangle 15"/>
          <p:cNvSpPr/>
          <p:nvPr/>
        </p:nvSpPr>
        <p:spPr>
          <a:xfrm>
            <a:off x="2286000" y="1783080"/>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1A9E4A"/>
                </a:solidFill>
              </a:rPr>
              <a:t>受注登録（新規作成）</a:t>
            </a:r>
          </a:p>
        </p:txBody>
      </p:sp>
      <p:sp>
        <p:nvSpPr>
          <p:cNvPr id="17" name="Rectangle 16"/>
          <p:cNvSpPr/>
          <p:nvPr/>
        </p:nvSpPr>
        <p:spPr>
          <a:xfrm>
            <a:off x="3913632" y="1783080"/>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1A9E4A"/>
                </a:solidFill>
              </a:rPr>
              <a:t>内容確認・承認</a:t>
            </a:r>
          </a:p>
        </p:txBody>
      </p:sp>
      <p:sp>
        <p:nvSpPr>
          <p:cNvPr id="18" name="Rectangle 17"/>
          <p:cNvSpPr/>
          <p:nvPr/>
        </p:nvSpPr>
        <p:spPr>
          <a:xfrm>
            <a:off x="5541264" y="1783080"/>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1A9E4A"/>
                </a:solidFill>
              </a:rPr>
              <a:t>「確定済」に変更</a:t>
            </a:r>
          </a:p>
        </p:txBody>
      </p:sp>
      <p:sp>
        <p:nvSpPr>
          <p:cNvPr id="19" name="Rectangle 18"/>
          <p:cNvSpPr/>
          <p:nvPr/>
        </p:nvSpPr>
        <p:spPr>
          <a:xfrm>
            <a:off x="7168896" y="1783080"/>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1A9E4A"/>
                </a:solidFill>
              </a:rPr>
              <a:t>出荷指示</a:t>
            </a:r>
          </a:p>
        </p:txBody>
      </p:sp>
      <p:sp>
        <p:nvSpPr>
          <p:cNvPr id="20" name="Rectangle 19"/>
          <p:cNvSpPr/>
          <p:nvPr/>
        </p:nvSpPr>
        <p:spPr>
          <a:xfrm>
            <a:off x="8796528" y="1783080"/>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1A9E4A"/>
                </a:solidFill>
              </a:rPr>
              <a:t>出荷確認</a:t>
            </a:r>
          </a:p>
        </p:txBody>
      </p:sp>
      <p:sp>
        <p:nvSpPr>
          <p:cNvPr id="21" name="Rectangle 20"/>
          <p:cNvSpPr/>
          <p:nvPr/>
        </p:nvSpPr>
        <p:spPr>
          <a:xfrm>
            <a:off x="10424160" y="1783080"/>
            <a:ext cx="1572768" cy="932688"/>
          </a:xfrm>
          <a:prstGeom prst="rect">
            <a:avLst/>
          </a:prstGeom>
          <a:solidFill>
            <a:srgbClr val="EEF8EE"/>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A9E4A"/>
                </a:solidFill>
              </a:rPr>
              <a:t>「完了」に変更 ★連携</a:t>
            </a:r>
          </a:p>
        </p:txBody>
      </p:sp>
      <p:sp>
        <p:nvSpPr>
          <p:cNvPr id="22" name="Rectangle 21"/>
          <p:cNvSpPr/>
          <p:nvPr/>
        </p:nvSpPr>
        <p:spPr>
          <a:xfrm>
            <a:off x="274320" y="2843784"/>
            <a:ext cx="1920240" cy="93268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売上管理</a:t>
            </a:r>
          </a:p>
        </p:txBody>
      </p:sp>
      <p:sp>
        <p:nvSpPr>
          <p:cNvPr id="23" name="Rectangle 22"/>
          <p:cNvSpPr/>
          <p:nvPr/>
        </p:nvSpPr>
        <p:spPr>
          <a:xfrm>
            <a:off x="2286000" y="2843784"/>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6B00"/>
                </a:solidFill>
              </a:rPr>
              <a:t>自動でレコード生成</a:t>
            </a:r>
          </a:p>
        </p:txBody>
      </p:sp>
      <p:sp>
        <p:nvSpPr>
          <p:cNvPr id="24" name="Rectangle 23"/>
          <p:cNvSpPr/>
          <p:nvPr/>
        </p:nvSpPr>
        <p:spPr>
          <a:xfrm>
            <a:off x="3913632" y="2843784"/>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6B00"/>
                </a:solidFill>
              </a:rPr>
              <a:t>金額・数量確認</a:t>
            </a:r>
          </a:p>
        </p:txBody>
      </p:sp>
      <p:sp>
        <p:nvSpPr>
          <p:cNvPr id="25" name="Rectangle 24"/>
          <p:cNvSpPr/>
          <p:nvPr/>
        </p:nvSpPr>
        <p:spPr>
          <a:xfrm>
            <a:off x="5541264" y="2843784"/>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68896" y="2843784"/>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FF6B00"/>
                </a:solidFill>
              </a:rPr>
              <a:t>「計上済」に変更</a:t>
            </a:r>
          </a:p>
        </p:txBody>
      </p:sp>
      <p:sp>
        <p:nvSpPr>
          <p:cNvPr id="27" name="Rectangle 26"/>
          <p:cNvSpPr/>
          <p:nvPr/>
        </p:nvSpPr>
        <p:spPr>
          <a:xfrm>
            <a:off x="8796528" y="2843784"/>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424160" y="2843784"/>
            <a:ext cx="1572768" cy="932688"/>
          </a:xfrm>
          <a:prstGeom prst="rect">
            <a:avLst/>
          </a:prstGeom>
          <a:solidFill>
            <a:srgbClr val="EEF8EE"/>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A9E4A"/>
                </a:solidFill>
              </a:rPr>
              <a:t>「請求対象」★連携</a:t>
            </a:r>
          </a:p>
        </p:txBody>
      </p:sp>
      <p:sp>
        <p:nvSpPr>
          <p:cNvPr id="29" name="Rectangle 28"/>
          <p:cNvSpPr/>
          <p:nvPr/>
        </p:nvSpPr>
        <p:spPr>
          <a:xfrm>
            <a:off x="274320" y="3904488"/>
            <a:ext cx="1920240" cy="932688"/>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請求管理</a:t>
            </a:r>
          </a:p>
        </p:txBody>
      </p:sp>
      <p:sp>
        <p:nvSpPr>
          <p:cNvPr id="30" name="Rectangle 29"/>
          <p:cNvSpPr/>
          <p:nvPr/>
        </p:nvSpPr>
        <p:spPr>
          <a:xfrm>
            <a:off x="2286000" y="3904488"/>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13632" y="3904488"/>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41264" y="3904488"/>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6B35CC"/>
                </a:solidFill>
              </a:rPr>
              <a:t>自動でレコード生成</a:t>
            </a:r>
          </a:p>
        </p:txBody>
      </p:sp>
      <p:sp>
        <p:nvSpPr>
          <p:cNvPr id="33" name="Rectangle 32"/>
          <p:cNvSpPr/>
          <p:nvPr/>
        </p:nvSpPr>
        <p:spPr>
          <a:xfrm>
            <a:off x="7168896" y="3904488"/>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6B35CC"/>
                </a:solidFill>
              </a:rPr>
              <a:t>請求書作成・確認</a:t>
            </a:r>
          </a:p>
        </p:txBody>
      </p:sp>
      <p:sp>
        <p:nvSpPr>
          <p:cNvPr id="34" name="Rectangle 33"/>
          <p:cNvSpPr/>
          <p:nvPr/>
        </p:nvSpPr>
        <p:spPr>
          <a:xfrm>
            <a:off x="8796528" y="3904488"/>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6B35CC"/>
                </a:solidFill>
              </a:rPr>
              <a:t>承認・PDF出力</a:t>
            </a:r>
          </a:p>
        </p:txBody>
      </p:sp>
      <p:sp>
        <p:nvSpPr>
          <p:cNvPr id="35" name="Rectangle 34"/>
          <p:cNvSpPr/>
          <p:nvPr/>
        </p:nvSpPr>
        <p:spPr>
          <a:xfrm>
            <a:off x="10424160" y="3904488"/>
            <a:ext cx="1572768" cy="932688"/>
          </a:xfrm>
          <a:prstGeom prst="rect">
            <a:avLst/>
          </a:prstGeom>
          <a:solidFill>
            <a:srgbClr val="EEF8EE"/>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A9E4A"/>
                </a:solidFill>
              </a:rPr>
              <a:t>顧客へ送付 ★連携</a:t>
            </a:r>
          </a:p>
        </p:txBody>
      </p:sp>
      <p:sp>
        <p:nvSpPr>
          <p:cNvPr id="36" name="Rectangle 35"/>
          <p:cNvSpPr/>
          <p:nvPr/>
        </p:nvSpPr>
        <p:spPr>
          <a:xfrm>
            <a:off x="274320" y="4965192"/>
            <a:ext cx="1920240" cy="93268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入金管理</a:t>
            </a:r>
          </a:p>
        </p:txBody>
      </p:sp>
      <p:sp>
        <p:nvSpPr>
          <p:cNvPr id="37" name="Rectangle 36"/>
          <p:cNvSpPr/>
          <p:nvPr/>
        </p:nvSpPr>
        <p:spPr>
          <a:xfrm>
            <a:off x="2286000" y="4965192"/>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13632" y="4965192"/>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41264" y="4965192"/>
            <a:ext cx="1572768" cy="932688"/>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68896" y="4965192"/>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008B8B"/>
                </a:solidFill>
              </a:rPr>
              <a:t>自動でレコード生成</a:t>
            </a:r>
          </a:p>
        </p:txBody>
      </p:sp>
      <p:sp>
        <p:nvSpPr>
          <p:cNvPr id="41" name="Rectangle 40"/>
          <p:cNvSpPr/>
          <p:nvPr/>
        </p:nvSpPr>
        <p:spPr>
          <a:xfrm>
            <a:off x="8796528" y="4965192"/>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008B8B"/>
                </a:solidFill>
              </a:rPr>
              <a:t>入金確認・照合</a:t>
            </a:r>
          </a:p>
        </p:txBody>
      </p:sp>
      <p:sp>
        <p:nvSpPr>
          <p:cNvPr id="42" name="Rectangle 41"/>
          <p:cNvSpPr/>
          <p:nvPr/>
        </p:nvSpPr>
        <p:spPr>
          <a:xfrm>
            <a:off x="10424160" y="4965192"/>
            <a:ext cx="1572768" cy="932688"/>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008B8B"/>
                </a:solidFill>
              </a:rPr>
              <a:t>消込→「完了」</a:t>
            </a:r>
          </a:p>
        </p:txBody>
      </p:sp>
      <p:sp>
        <p:nvSpPr>
          <p:cNvPr id="43" name="Rectangle 42"/>
          <p:cNvSpPr/>
          <p:nvPr/>
        </p:nvSpPr>
        <p:spPr>
          <a:xfrm>
            <a:off x="457200" y="6080760"/>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6172200"/>
            <a:ext cx="11064240" cy="320040"/>
          </a:xfrm>
          <a:prstGeom prst="rect">
            <a:avLst/>
          </a:prstGeom>
          <a:noFill/>
        </p:spPr>
        <p:txBody>
          <a:bodyPr wrap="square">
            <a:spAutoFit/>
          </a:bodyPr>
          <a:lstStyle/>
          <a:p>
            <a:pPr algn="l"/>
            <a:r>
              <a:rPr sz="1100" b="0" i="0">
                <a:solidFill>
                  <a:srgbClr val="554400"/>
                </a:solidFill>
              </a:rPr>
              <a:t>💡 ヒント：★マークは次のアプリへの自動連携ポイントです。連携後は元のアプリも確認してください。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FAQ</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よくある質問と解決策</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4つのアプリを使う中でつまずきやすいポイントをまとめました</a:t>
            </a:r>
          </a:p>
        </p:txBody>
      </p:sp>
      <p:sp>
        <p:nvSpPr>
          <p:cNvPr id="9" name="Rectangle 8"/>
          <p:cNvSpPr/>
          <p:nvPr/>
        </p:nvSpPr>
        <p:spPr>
          <a:xfrm>
            <a:off x="457200" y="1417320"/>
            <a:ext cx="11274552" cy="34747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44752"/>
            <a:ext cx="3657600" cy="274320"/>
          </a:xfrm>
          <a:prstGeom prst="rect">
            <a:avLst/>
          </a:prstGeom>
          <a:noFill/>
        </p:spPr>
        <p:txBody>
          <a:bodyPr wrap="square">
            <a:spAutoFit/>
          </a:bodyPr>
          <a:lstStyle/>
          <a:p>
            <a:pPr algn="l"/>
            <a:r>
              <a:rPr sz="1200" b="1" i="0">
                <a:solidFill>
                  <a:srgbClr val="FFFFFF"/>
                </a:solidFill>
              </a:rPr>
              <a:t>アプリ</a:t>
            </a:r>
          </a:p>
        </p:txBody>
      </p:sp>
      <p:sp>
        <p:nvSpPr>
          <p:cNvPr id="11" name="TextBox 10"/>
          <p:cNvSpPr txBox="1"/>
          <p:nvPr/>
        </p:nvSpPr>
        <p:spPr>
          <a:xfrm>
            <a:off x="2286000" y="1444752"/>
            <a:ext cx="3657600" cy="274320"/>
          </a:xfrm>
          <a:prstGeom prst="rect">
            <a:avLst/>
          </a:prstGeom>
          <a:noFill/>
        </p:spPr>
        <p:txBody>
          <a:bodyPr wrap="square">
            <a:spAutoFit/>
          </a:bodyPr>
          <a:lstStyle/>
          <a:p>
            <a:pPr algn="l"/>
            <a:r>
              <a:rPr sz="1200" b="1" i="0">
                <a:solidFill>
                  <a:srgbClr val="FFFFFF"/>
                </a:solidFill>
              </a:rPr>
              <a:t>質問</a:t>
            </a:r>
          </a:p>
        </p:txBody>
      </p:sp>
      <p:sp>
        <p:nvSpPr>
          <p:cNvPr id="12" name="TextBox 11"/>
          <p:cNvSpPr txBox="1"/>
          <p:nvPr/>
        </p:nvSpPr>
        <p:spPr>
          <a:xfrm>
            <a:off x="6858000" y="1444752"/>
            <a:ext cx="3657600" cy="274320"/>
          </a:xfrm>
          <a:prstGeom prst="rect">
            <a:avLst/>
          </a:prstGeom>
          <a:noFill/>
        </p:spPr>
        <p:txBody>
          <a:bodyPr wrap="square">
            <a:spAutoFit/>
          </a:bodyPr>
          <a:lstStyle/>
          <a:p>
            <a:pPr algn="l"/>
            <a:r>
              <a:rPr sz="1200" b="1" i="0">
                <a:solidFill>
                  <a:srgbClr val="FFFFFF"/>
                </a:solidFill>
              </a:rPr>
              <a:t>解決策</a:t>
            </a:r>
          </a:p>
        </p:txBody>
      </p:sp>
      <p:sp>
        <p:nvSpPr>
          <p:cNvPr id="13" name="Rectangle 12"/>
          <p:cNvSpPr/>
          <p:nvPr/>
        </p:nvSpPr>
        <p:spPr>
          <a:xfrm>
            <a:off x="457200" y="1810512"/>
            <a:ext cx="11274552" cy="621792"/>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938528"/>
            <a:ext cx="1627632" cy="347472"/>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受注管理</a:t>
            </a:r>
          </a:p>
        </p:txBody>
      </p:sp>
      <p:sp>
        <p:nvSpPr>
          <p:cNvPr id="15" name="TextBox 14"/>
          <p:cNvSpPr txBox="1"/>
          <p:nvPr/>
        </p:nvSpPr>
        <p:spPr>
          <a:xfrm>
            <a:off x="2286000" y="1901952"/>
            <a:ext cx="4389120" cy="475488"/>
          </a:xfrm>
          <a:prstGeom prst="rect">
            <a:avLst/>
          </a:prstGeom>
          <a:noFill/>
        </p:spPr>
        <p:txBody>
          <a:bodyPr wrap="square">
            <a:spAutoFit/>
          </a:bodyPr>
          <a:lstStyle/>
          <a:p>
            <a:pPr algn="l"/>
            <a:r>
              <a:rPr sz="1100" b="1" i="0">
                <a:solidFill>
                  <a:srgbClr val="1A1A2E"/>
                </a:solidFill>
              </a:rPr>
              <a:t>受注確定したのに売上管理に反映されない</a:t>
            </a:r>
          </a:p>
        </p:txBody>
      </p:sp>
      <p:sp>
        <p:nvSpPr>
          <p:cNvPr id="16" name="TextBox 15"/>
          <p:cNvSpPr txBox="1"/>
          <p:nvPr/>
        </p:nvSpPr>
        <p:spPr>
          <a:xfrm>
            <a:off x="6858000" y="1901952"/>
            <a:ext cx="4754880" cy="475488"/>
          </a:xfrm>
          <a:prstGeom prst="rect">
            <a:avLst/>
          </a:prstGeom>
          <a:noFill/>
        </p:spPr>
        <p:txBody>
          <a:bodyPr wrap="square">
            <a:spAutoFit/>
          </a:bodyPr>
          <a:lstStyle/>
          <a:p>
            <a:pPr algn="l"/>
            <a:r>
              <a:rPr sz="1000" b="0" i="0">
                <a:solidFill>
                  <a:srgbClr val="555566"/>
                </a:solidFill>
              </a:rPr>
              <a:t>ステータスが「完了」になっているか確認。「出荷済」では連携されません</a:t>
            </a:r>
          </a:p>
        </p:txBody>
      </p:sp>
      <p:sp>
        <p:nvSpPr>
          <p:cNvPr id="17" name="Rectangle 16"/>
          <p:cNvSpPr/>
          <p:nvPr/>
        </p:nvSpPr>
        <p:spPr>
          <a:xfrm>
            <a:off x="457200" y="2468880"/>
            <a:ext cx="11274552" cy="621792"/>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596896"/>
            <a:ext cx="1627632" cy="347472"/>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受注管理</a:t>
            </a:r>
          </a:p>
        </p:txBody>
      </p:sp>
      <p:sp>
        <p:nvSpPr>
          <p:cNvPr id="19" name="TextBox 18"/>
          <p:cNvSpPr txBox="1"/>
          <p:nvPr/>
        </p:nvSpPr>
        <p:spPr>
          <a:xfrm>
            <a:off x="2286000" y="2560320"/>
            <a:ext cx="4389120" cy="475488"/>
          </a:xfrm>
          <a:prstGeom prst="rect">
            <a:avLst/>
          </a:prstGeom>
          <a:noFill/>
        </p:spPr>
        <p:txBody>
          <a:bodyPr wrap="square">
            <a:spAutoFit/>
          </a:bodyPr>
          <a:lstStyle/>
          <a:p>
            <a:pPr algn="l"/>
            <a:r>
              <a:rPr sz="1100" b="1" i="0">
                <a:solidFill>
                  <a:srgbClr val="1A1A2E"/>
                </a:solidFill>
              </a:rPr>
              <a:t>誤って「完了」にしてしまった</a:t>
            </a:r>
          </a:p>
        </p:txBody>
      </p:sp>
      <p:sp>
        <p:nvSpPr>
          <p:cNvPr id="20" name="TextBox 19"/>
          <p:cNvSpPr txBox="1"/>
          <p:nvPr/>
        </p:nvSpPr>
        <p:spPr>
          <a:xfrm>
            <a:off x="6858000" y="2560320"/>
            <a:ext cx="4754880" cy="475488"/>
          </a:xfrm>
          <a:prstGeom prst="rect">
            <a:avLst/>
          </a:prstGeom>
          <a:noFill/>
        </p:spPr>
        <p:txBody>
          <a:bodyPr wrap="square">
            <a:spAutoFit/>
          </a:bodyPr>
          <a:lstStyle/>
          <a:p>
            <a:pPr algn="l"/>
            <a:r>
              <a:rPr sz="1000" b="0" i="0">
                <a:solidFill>
                  <a:srgbClr val="555566"/>
                </a:solidFill>
              </a:rPr>
              <a:t>売上管理に連携済みのため、経理担当者に連絡。独断でステータスを戻さないこと</a:t>
            </a:r>
          </a:p>
        </p:txBody>
      </p:sp>
      <p:sp>
        <p:nvSpPr>
          <p:cNvPr id="21" name="Rectangle 20"/>
          <p:cNvSpPr/>
          <p:nvPr/>
        </p:nvSpPr>
        <p:spPr>
          <a:xfrm>
            <a:off x="457200" y="3127248"/>
            <a:ext cx="11274552" cy="621792"/>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255264"/>
            <a:ext cx="1627632" cy="34747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売上管理</a:t>
            </a:r>
          </a:p>
        </p:txBody>
      </p:sp>
      <p:sp>
        <p:nvSpPr>
          <p:cNvPr id="23" name="TextBox 22"/>
          <p:cNvSpPr txBox="1"/>
          <p:nvPr/>
        </p:nvSpPr>
        <p:spPr>
          <a:xfrm>
            <a:off x="2286000" y="3218688"/>
            <a:ext cx="4389120" cy="475488"/>
          </a:xfrm>
          <a:prstGeom prst="rect">
            <a:avLst/>
          </a:prstGeom>
          <a:noFill/>
        </p:spPr>
        <p:txBody>
          <a:bodyPr wrap="square">
            <a:spAutoFit/>
          </a:bodyPr>
          <a:lstStyle/>
          <a:p>
            <a:pPr algn="l"/>
            <a:r>
              <a:rPr sz="1100" b="1" i="0">
                <a:solidFill>
                  <a:srgbClr val="1A1A2E"/>
                </a:solidFill>
              </a:rPr>
              <a:t>金額が受注と異なる</a:t>
            </a:r>
          </a:p>
        </p:txBody>
      </p:sp>
      <p:sp>
        <p:nvSpPr>
          <p:cNvPr id="24" name="TextBox 23"/>
          <p:cNvSpPr txBox="1"/>
          <p:nvPr/>
        </p:nvSpPr>
        <p:spPr>
          <a:xfrm>
            <a:off x="6858000" y="3218688"/>
            <a:ext cx="4754880" cy="475488"/>
          </a:xfrm>
          <a:prstGeom prst="rect">
            <a:avLst/>
          </a:prstGeom>
          <a:noFill/>
        </p:spPr>
        <p:txBody>
          <a:bodyPr wrap="square">
            <a:spAutoFit/>
          </a:bodyPr>
          <a:lstStyle/>
          <a:p>
            <a:pPr algn="l"/>
            <a:r>
              <a:rPr sz="1000" b="0" i="0">
                <a:solidFill>
                  <a:srgbClr val="555566"/>
                </a:solidFill>
              </a:rPr>
              <a:t>受注管理の元レコードを確認・修正後、再度連携依頼をシステム担当者へ</a:t>
            </a:r>
          </a:p>
        </p:txBody>
      </p:sp>
      <p:sp>
        <p:nvSpPr>
          <p:cNvPr id="25" name="Rectangle 24"/>
          <p:cNvSpPr/>
          <p:nvPr/>
        </p:nvSpPr>
        <p:spPr>
          <a:xfrm>
            <a:off x="457200" y="3785616"/>
            <a:ext cx="11274552" cy="621792"/>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913632"/>
            <a:ext cx="1627632" cy="347472"/>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請求管理</a:t>
            </a:r>
          </a:p>
        </p:txBody>
      </p:sp>
      <p:sp>
        <p:nvSpPr>
          <p:cNvPr id="27" name="TextBox 26"/>
          <p:cNvSpPr txBox="1"/>
          <p:nvPr/>
        </p:nvSpPr>
        <p:spPr>
          <a:xfrm>
            <a:off x="2286000" y="3877056"/>
            <a:ext cx="4389120" cy="475488"/>
          </a:xfrm>
          <a:prstGeom prst="rect">
            <a:avLst/>
          </a:prstGeom>
          <a:noFill/>
        </p:spPr>
        <p:txBody>
          <a:bodyPr wrap="square">
            <a:spAutoFit/>
          </a:bodyPr>
          <a:lstStyle/>
          <a:p>
            <a:pPr algn="l"/>
            <a:r>
              <a:rPr sz="1100" b="1" i="0">
                <a:solidFill>
                  <a:srgbClr val="1A1A2E"/>
                </a:solidFill>
              </a:rPr>
              <a:t>PDF出力ボタンが表示されない</a:t>
            </a:r>
          </a:p>
        </p:txBody>
      </p:sp>
      <p:sp>
        <p:nvSpPr>
          <p:cNvPr id="28" name="TextBox 27"/>
          <p:cNvSpPr txBox="1"/>
          <p:nvPr/>
        </p:nvSpPr>
        <p:spPr>
          <a:xfrm>
            <a:off x="6858000" y="3877056"/>
            <a:ext cx="4754880" cy="475488"/>
          </a:xfrm>
          <a:prstGeom prst="rect">
            <a:avLst/>
          </a:prstGeom>
          <a:noFill/>
        </p:spPr>
        <p:txBody>
          <a:bodyPr wrap="square">
            <a:spAutoFit/>
          </a:bodyPr>
          <a:lstStyle/>
          <a:p>
            <a:pPr algn="l"/>
            <a:r>
              <a:rPr sz="1000" b="0" i="0">
                <a:solidFill>
                  <a:srgbClr val="555566"/>
                </a:solidFill>
              </a:rPr>
              <a:t>ステータスが「承認待ち」以降になっているか確認。作成中では出力不可</a:t>
            </a:r>
          </a:p>
        </p:txBody>
      </p:sp>
      <p:sp>
        <p:nvSpPr>
          <p:cNvPr id="29" name="Rectangle 28"/>
          <p:cNvSpPr/>
          <p:nvPr/>
        </p:nvSpPr>
        <p:spPr>
          <a:xfrm>
            <a:off x="457200" y="4443984"/>
            <a:ext cx="11274552" cy="621792"/>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4572000"/>
            <a:ext cx="1627632" cy="347472"/>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請求管理</a:t>
            </a:r>
          </a:p>
        </p:txBody>
      </p:sp>
      <p:sp>
        <p:nvSpPr>
          <p:cNvPr id="31" name="TextBox 30"/>
          <p:cNvSpPr txBox="1"/>
          <p:nvPr/>
        </p:nvSpPr>
        <p:spPr>
          <a:xfrm>
            <a:off x="2286000" y="4535424"/>
            <a:ext cx="4389120" cy="475488"/>
          </a:xfrm>
          <a:prstGeom prst="rect">
            <a:avLst/>
          </a:prstGeom>
          <a:noFill/>
        </p:spPr>
        <p:txBody>
          <a:bodyPr wrap="square">
            <a:spAutoFit/>
          </a:bodyPr>
          <a:lstStyle/>
          <a:p>
            <a:pPr algn="l"/>
            <a:r>
              <a:rPr sz="1100" b="1" i="0">
                <a:solidFill>
                  <a:srgbClr val="1A1A2E"/>
                </a:solidFill>
              </a:rPr>
              <a:t>支払期限を誤って設定してしまった</a:t>
            </a:r>
          </a:p>
        </p:txBody>
      </p:sp>
      <p:sp>
        <p:nvSpPr>
          <p:cNvPr id="32" name="TextBox 31"/>
          <p:cNvSpPr txBox="1"/>
          <p:nvPr/>
        </p:nvSpPr>
        <p:spPr>
          <a:xfrm>
            <a:off x="6858000" y="4535424"/>
            <a:ext cx="4754880" cy="475488"/>
          </a:xfrm>
          <a:prstGeom prst="rect">
            <a:avLst/>
          </a:prstGeom>
          <a:noFill/>
        </p:spPr>
        <p:txBody>
          <a:bodyPr wrap="square">
            <a:spAutoFit/>
          </a:bodyPr>
          <a:lstStyle/>
          <a:p>
            <a:pPr algn="l"/>
            <a:r>
              <a:rPr sz="1000" b="0" i="0">
                <a:solidFill>
                  <a:srgbClr val="555566"/>
                </a:solidFill>
              </a:rPr>
              <a:t>承認前なら編集で修正可。送付済みの場合は経理担当者へ報告</a:t>
            </a:r>
          </a:p>
        </p:txBody>
      </p:sp>
      <p:sp>
        <p:nvSpPr>
          <p:cNvPr id="33" name="Rectangle 32"/>
          <p:cNvSpPr/>
          <p:nvPr/>
        </p:nvSpPr>
        <p:spPr>
          <a:xfrm>
            <a:off x="457200" y="5102352"/>
            <a:ext cx="11274552" cy="621792"/>
          </a:xfrm>
          <a:prstGeom prst="rect">
            <a:avLst/>
          </a:prstGeom>
          <a:solidFill>
            <a:srgbClr val="FFFF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230368"/>
            <a:ext cx="1627632" cy="34747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入金管理</a:t>
            </a:r>
          </a:p>
        </p:txBody>
      </p:sp>
      <p:sp>
        <p:nvSpPr>
          <p:cNvPr id="35" name="TextBox 34"/>
          <p:cNvSpPr txBox="1"/>
          <p:nvPr/>
        </p:nvSpPr>
        <p:spPr>
          <a:xfrm>
            <a:off x="2286000" y="5193792"/>
            <a:ext cx="4389120" cy="475488"/>
          </a:xfrm>
          <a:prstGeom prst="rect">
            <a:avLst/>
          </a:prstGeom>
          <a:noFill/>
        </p:spPr>
        <p:txBody>
          <a:bodyPr wrap="square">
            <a:spAutoFit/>
          </a:bodyPr>
          <a:lstStyle/>
          <a:p>
            <a:pPr algn="l"/>
            <a:r>
              <a:rPr sz="1100" b="1" i="0">
                <a:solidFill>
                  <a:srgbClr val="1A1A2E"/>
                </a:solidFill>
              </a:rPr>
              <a:t>入金額が少ない（短額入金）</a:t>
            </a:r>
          </a:p>
        </p:txBody>
      </p:sp>
      <p:sp>
        <p:nvSpPr>
          <p:cNvPr id="36" name="TextBox 35"/>
          <p:cNvSpPr txBox="1"/>
          <p:nvPr/>
        </p:nvSpPr>
        <p:spPr>
          <a:xfrm>
            <a:off x="6858000" y="5193792"/>
            <a:ext cx="4754880" cy="475488"/>
          </a:xfrm>
          <a:prstGeom prst="rect">
            <a:avLst/>
          </a:prstGeom>
          <a:noFill/>
        </p:spPr>
        <p:txBody>
          <a:bodyPr wrap="square">
            <a:spAutoFit/>
          </a:bodyPr>
          <a:lstStyle/>
          <a:p>
            <a:pPr algn="l"/>
            <a:r>
              <a:rPr sz="1000" b="0" i="0">
                <a:solidFill>
                  <a:srgbClr val="555566"/>
                </a:solidFill>
              </a:rPr>
              <a:t>ステータスを「差額対応中」にして備考に差額・理由を記録。経理担当者へ@メンション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0" y="137160"/>
            <a:ext cx="2313432" cy="36576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38360" y="173736"/>
            <a:ext cx="2221992" cy="274320"/>
          </a:xfrm>
          <a:prstGeom prst="rect">
            <a:avLst/>
          </a:prstGeom>
          <a:noFill/>
        </p:spPr>
        <p:txBody>
          <a:bodyPr wrap="square">
            <a:spAutoFit/>
          </a:bodyPr>
          <a:lstStyle/>
          <a:p>
            <a:pPr algn="ctr"/>
            <a:r>
              <a:rPr sz="1100" b="1" i="0">
                <a:solidFill>
                  <a:srgbClr val="0066CC"/>
                </a:solidFill>
              </a:rPr>
              <a:t>まとめ</a:t>
            </a:r>
          </a:p>
        </p:txBody>
      </p:sp>
      <p:sp>
        <p:nvSpPr>
          <p:cNvPr id="6" name="TextBox 5"/>
          <p:cNvSpPr txBox="1"/>
          <p:nvPr/>
        </p:nvSpPr>
        <p:spPr>
          <a:xfrm>
            <a:off x="457200" y="292608"/>
            <a:ext cx="9144000" cy="640080"/>
          </a:xfrm>
          <a:prstGeom prst="rect">
            <a:avLst/>
          </a:prstGeom>
          <a:noFill/>
        </p:spPr>
        <p:txBody>
          <a:bodyPr wrap="square">
            <a:spAutoFit/>
          </a:bodyPr>
          <a:lstStyle/>
          <a:p>
            <a:pPr algn="l"/>
            <a:r>
              <a:rPr sz="2400" b="1" i="0">
                <a:solidFill>
                  <a:srgbClr val="0066CC"/>
                </a:solidFill>
              </a:rPr>
              <a:t>業務フロー まとめ</a:t>
            </a:r>
          </a:p>
        </p:txBody>
      </p:sp>
      <p:sp>
        <p:nvSpPr>
          <p:cNvPr id="7" name="Rectangle 6"/>
          <p:cNvSpPr/>
          <p:nvPr/>
        </p:nvSpPr>
        <p:spPr>
          <a:xfrm>
            <a:off x="457200" y="932688"/>
            <a:ext cx="1127455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05840"/>
            <a:ext cx="11274552" cy="347472"/>
          </a:xfrm>
          <a:prstGeom prst="rect">
            <a:avLst/>
          </a:prstGeom>
          <a:noFill/>
        </p:spPr>
        <p:txBody>
          <a:bodyPr wrap="square">
            <a:spAutoFit/>
          </a:bodyPr>
          <a:lstStyle/>
          <a:p>
            <a:pPr algn="l"/>
            <a:r>
              <a:rPr sz="1200" b="0" i="0">
                <a:solidFill>
                  <a:srgbClr val="555566"/>
                </a:solidFill>
              </a:rPr>
              <a:t>4つのアプリの役割と連携ポイントを押さえて、スムーズな業務を実現しましょう</a:t>
            </a:r>
          </a:p>
        </p:txBody>
      </p:sp>
      <p:sp>
        <p:nvSpPr>
          <p:cNvPr id="9" name="Rectangle 8"/>
          <p:cNvSpPr/>
          <p:nvPr/>
        </p:nvSpPr>
        <p:spPr>
          <a:xfrm>
            <a:off x="365760" y="1417320"/>
            <a:ext cx="2606040" cy="457200"/>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受注管理</a:t>
            </a:r>
          </a:p>
        </p:txBody>
      </p:sp>
      <p:sp>
        <p:nvSpPr>
          <p:cNvPr id="10" name="Rectangle 9"/>
          <p:cNvSpPr/>
          <p:nvPr/>
        </p:nvSpPr>
        <p:spPr>
          <a:xfrm>
            <a:off x="365760" y="1874519"/>
            <a:ext cx="260604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rPr>
              <a:t>注文受付〜出荷完了まで
全ステータスを正確に管理</a:t>
            </a:r>
          </a:p>
        </p:txBody>
      </p:sp>
      <p:sp>
        <p:nvSpPr>
          <p:cNvPr id="11" name="Rectangle 10"/>
          <p:cNvSpPr/>
          <p:nvPr/>
        </p:nvSpPr>
        <p:spPr>
          <a:xfrm>
            <a:off x="365760" y="4315968"/>
            <a:ext cx="2606040" cy="411480"/>
          </a:xfrm>
          <a:prstGeom prst="rect">
            <a:avLst/>
          </a:prstGeom>
          <a:solidFill>
            <a:srgbClr val="56D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「完了」→ 売上管理へ自動連携</a:t>
            </a:r>
          </a:p>
        </p:txBody>
      </p:sp>
      <p:sp>
        <p:nvSpPr>
          <p:cNvPr id="12" name="Rectangle 11"/>
          <p:cNvSpPr/>
          <p:nvPr/>
        </p:nvSpPr>
        <p:spPr>
          <a:xfrm>
            <a:off x="3264408" y="1417320"/>
            <a:ext cx="2606040" cy="4572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売上管理</a:t>
            </a:r>
          </a:p>
        </p:txBody>
      </p:sp>
      <p:sp>
        <p:nvSpPr>
          <p:cNvPr id="13" name="Rectangle 12"/>
          <p:cNvSpPr/>
          <p:nvPr/>
        </p:nvSpPr>
        <p:spPr>
          <a:xfrm>
            <a:off x="3264408" y="1874519"/>
            <a:ext cx="260604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rPr>
              <a:t>受注から自動生成された
売上を確認・計上</a:t>
            </a:r>
          </a:p>
        </p:txBody>
      </p:sp>
      <p:sp>
        <p:nvSpPr>
          <p:cNvPr id="14" name="Rectangle 13"/>
          <p:cNvSpPr/>
          <p:nvPr/>
        </p:nvSpPr>
        <p:spPr>
          <a:xfrm>
            <a:off x="3264408" y="4315968"/>
            <a:ext cx="2606040" cy="411480"/>
          </a:xfrm>
          <a:prstGeom prst="rect">
            <a:avLst/>
          </a:prstGeom>
          <a:solidFill>
            <a:srgbClr val="FFA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「計上済」→ 請求管理へ自動連携</a:t>
            </a:r>
          </a:p>
        </p:txBody>
      </p:sp>
      <p:sp>
        <p:nvSpPr>
          <p:cNvPr id="15" name="Rectangle 14"/>
          <p:cNvSpPr/>
          <p:nvPr/>
        </p:nvSpPr>
        <p:spPr>
          <a:xfrm>
            <a:off x="6163056" y="1417320"/>
            <a:ext cx="2606040" cy="457200"/>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請求管理</a:t>
            </a:r>
          </a:p>
        </p:txBody>
      </p:sp>
      <p:sp>
        <p:nvSpPr>
          <p:cNvPr id="16" name="Rectangle 15"/>
          <p:cNvSpPr/>
          <p:nvPr/>
        </p:nvSpPr>
        <p:spPr>
          <a:xfrm>
            <a:off x="6163056" y="1874519"/>
            <a:ext cx="260604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rPr>
              <a:t>売上データをもとに
請求書を作成・承認・送付</a:t>
            </a:r>
          </a:p>
        </p:txBody>
      </p:sp>
      <p:sp>
        <p:nvSpPr>
          <p:cNvPr id="17" name="Rectangle 16"/>
          <p:cNvSpPr/>
          <p:nvPr/>
        </p:nvSpPr>
        <p:spPr>
          <a:xfrm>
            <a:off x="6163056" y="4315968"/>
            <a:ext cx="2606040" cy="411480"/>
          </a:xfrm>
          <a:prstGeom prst="rect">
            <a:avLst/>
          </a:prstGeom>
          <a:solidFill>
            <a:srgbClr val="A77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「送付済」→ 入金管理へ自動連携</a:t>
            </a:r>
          </a:p>
        </p:txBody>
      </p:sp>
      <p:sp>
        <p:nvSpPr>
          <p:cNvPr id="18" name="Rectangle 17"/>
          <p:cNvSpPr/>
          <p:nvPr/>
        </p:nvSpPr>
        <p:spPr>
          <a:xfrm>
            <a:off x="9061704" y="1417320"/>
            <a:ext cx="2606040" cy="4572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入金管理</a:t>
            </a:r>
          </a:p>
        </p:txBody>
      </p:sp>
      <p:sp>
        <p:nvSpPr>
          <p:cNvPr id="19" name="Rectangle 18"/>
          <p:cNvSpPr/>
          <p:nvPr/>
        </p:nvSpPr>
        <p:spPr>
          <a:xfrm>
            <a:off x="9061704" y="1874519"/>
            <a:ext cx="2606040" cy="2377440"/>
          </a:xfrm>
          <a:prstGeom prst="rect">
            <a:avLst/>
          </a:prstGeom>
          <a:solidFill>
            <a:srgbClr val="F4F7FF"/>
          </a:solidFill>
          <a:ln w="1270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1A1A2E"/>
                </a:solidFill>
              </a:rPr>
              <a:t>入金照合・消込処理で
債権回収を確実に管理</a:t>
            </a:r>
          </a:p>
        </p:txBody>
      </p:sp>
      <p:sp>
        <p:nvSpPr>
          <p:cNvPr id="20" name="Rectangle 19"/>
          <p:cNvSpPr/>
          <p:nvPr/>
        </p:nvSpPr>
        <p:spPr>
          <a:xfrm>
            <a:off x="9061704" y="4315968"/>
            <a:ext cx="2606040" cy="411480"/>
          </a:xfrm>
          <a:prstGeom prst="rect">
            <a:avLst/>
          </a:prstGeom>
          <a:solidFill>
            <a:srgbClr val="3C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「完了」→ フロー終了</a:t>
            </a:r>
          </a:p>
        </p:txBody>
      </p:sp>
      <p:sp>
        <p:nvSpPr>
          <p:cNvPr id="21" name="Rectangle 20"/>
          <p:cNvSpPr/>
          <p:nvPr/>
        </p:nvSpPr>
        <p:spPr>
          <a:xfrm>
            <a:off x="457200" y="4892040"/>
            <a:ext cx="11274552" cy="566928"/>
          </a:xfrm>
          <a:prstGeom prst="rect">
            <a:avLst/>
          </a:prstGeom>
          <a:solidFill>
            <a:srgbClr val="FFF0F0"/>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937760"/>
            <a:ext cx="10972800" cy="237744"/>
          </a:xfrm>
          <a:prstGeom prst="rect">
            <a:avLst/>
          </a:prstGeom>
          <a:noFill/>
        </p:spPr>
        <p:txBody>
          <a:bodyPr wrap="square">
            <a:spAutoFit/>
          </a:bodyPr>
          <a:lstStyle/>
          <a:p>
            <a:pPr algn="l"/>
            <a:r>
              <a:rPr sz="1100" b="1" i="0">
                <a:solidFill>
                  <a:srgbClr val="CC0000"/>
                </a:solidFill>
              </a:rPr>
              <a:t>💡 重要：ステータス変更のルール</a:t>
            </a:r>
          </a:p>
        </p:txBody>
      </p:sp>
      <p:sp>
        <p:nvSpPr>
          <p:cNvPr id="23" name="TextBox 22"/>
          <p:cNvSpPr txBox="1"/>
          <p:nvPr/>
        </p:nvSpPr>
        <p:spPr>
          <a:xfrm>
            <a:off x="621792" y="5193792"/>
            <a:ext cx="10972800" cy="237744"/>
          </a:xfrm>
          <a:prstGeom prst="rect">
            <a:avLst/>
          </a:prstGeom>
          <a:noFill/>
        </p:spPr>
        <p:txBody>
          <a:bodyPr wrap="square">
            <a:spAutoFit/>
          </a:bodyPr>
          <a:lstStyle/>
          <a:p>
            <a:pPr algn="l"/>
            <a:r>
              <a:rPr sz="1100" b="0" i="0">
                <a:solidFill>
                  <a:srgbClr val="1A1A2E"/>
                </a:solidFill>
              </a:rPr>
              <a:t>各アプリのステータスは順番通りに変更すること。スキップや逆戻しが必要な場合は必ず管理者・経理担当者に確認してください</a:t>
            </a:r>
          </a:p>
        </p:txBody>
      </p:sp>
      <p:sp>
        <p:nvSpPr>
          <p:cNvPr id="24" name="Rectangle 23"/>
          <p:cNvSpPr/>
          <p:nvPr/>
        </p:nvSpPr>
        <p:spPr>
          <a:xfrm>
            <a:off x="457200" y="5596128"/>
            <a:ext cx="11274552" cy="475488"/>
          </a:xfrm>
          <a:prstGeom prst="rect">
            <a:avLst/>
          </a:prstGeom>
          <a:solidFill>
            <a:srgbClr val="FFF8E1"/>
          </a:solidFill>
          <a:ln w="12700">
            <a:solidFill>
              <a:srgbClr val="FFD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5687568"/>
            <a:ext cx="11064240" cy="320040"/>
          </a:xfrm>
          <a:prstGeom prst="rect">
            <a:avLst/>
          </a:prstGeom>
          <a:noFill/>
        </p:spPr>
        <p:txBody>
          <a:bodyPr wrap="square">
            <a:spAutoFit/>
          </a:bodyPr>
          <a:lstStyle/>
          <a:p>
            <a:pPr algn="l"/>
            <a:r>
              <a:rPr sz="1100" b="0" i="0">
                <a:solidFill>
                  <a:srgbClr val="554400"/>
                </a:solidFill>
              </a:rPr>
              <a:t>💡 ヒント：困ったときはシステム管理者（内線: 1234）またはキントーン管理者チームにご連絡ください。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371600"/>
            <a:ext cx="4572000" cy="4572000"/>
          </a:xfrm>
          <a:prstGeom prst="ellipse">
            <a:avLst/>
          </a:prstGeom>
          <a:solidFill>
            <a:srgbClr val="005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4389120"/>
            <a:ext cx="3840480" cy="3840480"/>
          </a:xfrm>
          <a:prstGeom prst="ellipse">
            <a:avLst/>
          </a:prstGeom>
          <a:solidFill>
            <a:srgbClr val="005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20240"/>
            <a:ext cx="11274552" cy="1005840"/>
          </a:xfrm>
          <a:prstGeom prst="rect">
            <a:avLst/>
          </a:prstGeom>
          <a:noFill/>
        </p:spPr>
        <p:txBody>
          <a:bodyPr wrap="square">
            <a:spAutoFit/>
          </a:bodyPr>
          <a:lstStyle/>
          <a:p>
            <a:pPr algn="ctr"/>
            <a:r>
              <a:rPr sz="4200" b="1" i="0">
                <a:solidFill>
                  <a:srgbClr val="FFFFFF"/>
                </a:solidFill>
              </a:rPr>
              <a:t>ご清聴ありがとうございました</a:t>
            </a:r>
          </a:p>
        </p:txBody>
      </p:sp>
      <p:sp>
        <p:nvSpPr>
          <p:cNvPr id="6" name="TextBox 5"/>
          <p:cNvSpPr txBox="1"/>
          <p:nvPr/>
        </p:nvSpPr>
        <p:spPr>
          <a:xfrm>
            <a:off x="457200" y="3017520"/>
            <a:ext cx="11274552" cy="548640"/>
          </a:xfrm>
          <a:prstGeom prst="rect">
            <a:avLst/>
          </a:prstGeom>
          <a:noFill/>
        </p:spPr>
        <p:txBody>
          <a:bodyPr wrap="square">
            <a:spAutoFit/>
          </a:bodyPr>
          <a:lstStyle/>
          <a:p>
            <a:pPr algn="ctr"/>
            <a:r>
              <a:rPr sz="1800" b="0" i="0">
                <a:solidFill>
                  <a:srgbClr val="BBDDFF"/>
                </a:solidFill>
              </a:rPr>
              <a:t>ご不明な点・操作でお困りの際はお気軽にご相談ください</a:t>
            </a:r>
          </a:p>
        </p:txBody>
      </p:sp>
      <p:sp>
        <p:nvSpPr>
          <p:cNvPr id="7" name="Rectangle 6"/>
          <p:cNvSpPr/>
          <p:nvPr/>
        </p:nvSpPr>
        <p:spPr>
          <a:xfrm>
            <a:off x="1645920" y="4114800"/>
            <a:ext cx="1828800" cy="365760"/>
          </a:xfrm>
          <a:prstGeom prst="rect">
            <a:avLst/>
          </a:prstGeom>
          <a:solidFill>
            <a:srgbClr val="1A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受注管理</a:t>
            </a:r>
          </a:p>
        </p:txBody>
      </p:sp>
      <p:sp>
        <p:nvSpPr>
          <p:cNvPr id="8" name="Rectangle 7"/>
          <p:cNvSpPr/>
          <p:nvPr/>
        </p:nvSpPr>
        <p:spPr>
          <a:xfrm>
            <a:off x="3840480" y="4114800"/>
            <a:ext cx="1828800" cy="36576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売上管理</a:t>
            </a:r>
          </a:p>
        </p:txBody>
      </p:sp>
      <p:sp>
        <p:nvSpPr>
          <p:cNvPr id="9" name="Rectangle 8"/>
          <p:cNvSpPr/>
          <p:nvPr/>
        </p:nvSpPr>
        <p:spPr>
          <a:xfrm>
            <a:off x="6035040" y="4114800"/>
            <a:ext cx="1828800" cy="365760"/>
          </a:xfrm>
          <a:prstGeom prst="rect">
            <a:avLst/>
          </a:prstGeom>
          <a:solidFill>
            <a:srgbClr val="6B3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請求管理</a:t>
            </a:r>
          </a:p>
        </p:txBody>
      </p:sp>
      <p:sp>
        <p:nvSpPr>
          <p:cNvPr id="10" name="Rectangle 9"/>
          <p:cNvSpPr/>
          <p:nvPr/>
        </p:nvSpPr>
        <p:spPr>
          <a:xfrm>
            <a:off x="8229600" y="4114800"/>
            <a:ext cx="1828800" cy="36576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入金管理</a:t>
            </a:r>
          </a:p>
        </p:txBody>
      </p:sp>
      <p:sp>
        <p:nvSpPr>
          <p:cNvPr id="11" name="TextBox 10"/>
          <p:cNvSpPr txBox="1"/>
          <p:nvPr/>
        </p:nvSpPr>
        <p:spPr>
          <a:xfrm>
            <a:off x="457200" y="4937760"/>
            <a:ext cx="11274552" cy="365760"/>
          </a:xfrm>
          <a:prstGeom prst="rect">
            <a:avLst/>
          </a:prstGeom>
          <a:noFill/>
        </p:spPr>
        <p:txBody>
          <a:bodyPr wrap="square">
            <a:spAutoFit/>
          </a:bodyPr>
          <a:lstStyle/>
          <a:p>
            <a:pPr algn="ctr"/>
            <a:r>
              <a:rPr sz="1300" b="0" i="0">
                <a:solidFill>
                  <a:srgbClr val="6688AA"/>
                </a:solidFill>
              </a:rPr>
              <a:t>フーズジョイ　社内システム部　／　キントーン活用推進チーム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